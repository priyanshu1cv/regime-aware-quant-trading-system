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7.pn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Relationship Id="rId8" Target="../media/image42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4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7200900" cy="10287000"/>
          </a:xfrm>
          <a:custGeom>
            <a:avLst/>
            <a:gdLst/>
            <a:ahLst/>
            <a:cxnLst/>
            <a:rect r="r" b="b" t="t" l="l"/>
            <a:pathLst>
              <a:path h="10287000" w="72009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50238" y="3317977"/>
            <a:ext cx="9445523" cy="271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Regime-Aware Quantitative Trading System for NIFTY Derivatives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50238" y="6353470"/>
            <a:ext cx="9445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Using Hidden Markov Models and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7200900" cy="10287000"/>
          </a:xfrm>
          <a:custGeom>
            <a:avLst/>
            <a:gdLst/>
            <a:ahLst/>
            <a:cxnLst/>
            <a:rect r="r" b="b" t="t" l="l"/>
            <a:pathLst>
              <a:path h="10287000" w="72009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762427" y="711994"/>
            <a:ext cx="2383631" cy="485480"/>
            <a:chOff x="0" y="0"/>
            <a:chExt cx="3178175" cy="6473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78175" cy="647192"/>
            </a:xfrm>
            <a:custGeom>
              <a:avLst/>
              <a:gdLst/>
              <a:ahLst/>
              <a:cxnLst/>
              <a:rect r="r" b="b" t="t" l="l"/>
              <a:pathLst>
                <a:path h="647192" w="3178175">
                  <a:moveTo>
                    <a:pt x="0" y="248031"/>
                  </a:moveTo>
                  <a:cubicBezTo>
                    <a:pt x="0" y="111125"/>
                    <a:pt x="111125" y="0"/>
                    <a:pt x="248031" y="0"/>
                  </a:cubicBezTo>
                  <a:lnTo>
                    <a:pt x="2930144" y="0"/>
                  </a:lnTo>
                  <a:cubicBezTo>
                    <a:pt x="3067177" y="0"/>
                    <a:pt x="3178175" y="111125"/>
                    <a:pt x="3178175" y="248031"/>
                  </a:cubicBezTo>
                  <a:lnTo>
                    <a:pt x="3178175" y="399161"/>
                  </a:lnTo>
                  <a:cubicBezTo>
                    <a:pt x="3178175" y="536194"/>
                    <a:pt x="3067050" y="647192"/>
                    <a:pt x="2930144" y="647192"/>
                  </a:cubicBezTo>
                  <a:lnTo>
                    <a:pt x="248031" y="647192"/>
                  </a:lnTo>
                  <a:cubicBezTo>
                    <a:pt x="111125" y="647319"/>
                    <a:pt x="0" y="536194"/>
                    <a:pt x="0" y="399288"/>
                  </a:cubicBezTo>
                  <a:close/>
                </a:path>
              </a:pathLst>
            </a:custGeom>
            <a:solidFill>
              <a:srgbClr val="CEE6F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7917361" y="713184"/>
            <a:ext cx="2073773" cy="406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1625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PROJECT 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62427" y="1243603"/>
            <a:ext cx="9621145" cy="1672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5062" b="true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Smarter Trading Through Market Intelligence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62427" y="3450136"/>
            <a:ext cx="5520480" cy="2565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This project builds a regime-aware quantitative trading system for NIFTY derivatives using Python. The main goal: understand market behavior, identify different market phases, and trade only when conditions are favorable.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62427" y="6162380"/>
            <a:ext cx="5520480" cy="1738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The system combines technical indicators, options-based features, regime detection, and machine learning to improve trade quality and reduce unnecessary losses.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22873" y="3828012"/>
            <a:ext cx="3470072" cy="74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87"/>
              </a:lnSpc>
            </a:pPr>
            <a:r>
              <a:rPr lang="en-US" sz="6687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042822" y="4870247"/>
            <a:ext cx="3230013" cy="432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Market Regimes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22873" y="5475084"/>
            <a:ext cx="3470072" cy="91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000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Uptrend, sideways, downtrend detection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22873" y="7138092"/>
            <a:ext cx="3470072" cy="74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87"/>
              </a:lnSpc>
            </a:pPr>
            <a:r>
              <a:rPr lang="en-US" sz="6687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5min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42822" y="8180337"/>
            <a:ext cx="3230013" cy="432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4"/>
              </a:lnSpc>
            </a:pPr>
            <a:r>
              <a:rPr lang="en-US" sz="2499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Data Frequency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22873" y="8785174"/>
            <a:ext cx="3470072" cy="499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2000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Intraday OHLCV intervals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3295498"/>
            <a:ext cx="2365772" cy="561384"/>
            <a:chOff x="0" y="0"/>
            <a:chExt cx="3154362" cy="7485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54299" cy="748411"/>
            </a:xfrm>
            <a:custGeom>
              <a:avLst/>
              <a:gdLst/>
              <a:ahLst/>
              <a:cxnLst/>
              <a:rect r="r" b="b" t="t" l="l"/>
              <a:pathLst>
                <a:path h="748411" w="3154299">
                  <a:moveTo>
                    <a:pt x="0" y="278511"/>
                  </a:moveTo>
                  <a:cubicBezTo>
                    <a:pt x="0" y="124587"/>
                    <a:pt x="126365" y="0"/>
                    <a:pt x="282067" y="0"/>
                  </a:cubicBezTo>
                  <a:lnTo>
                    <a:pt x="2872232" y="0"/>
                  </a:lnTo>
                  <a:lnTo>
                    <a:pt x="2872232" y="6350"/>
                  </a:lnTo>
                  <a:lnTo>
                    <a:pt x="2872232" y="0"/>
                  </a:lnTo>
                  <a:cubicBezTo>
                    <a:pt x="3027934" y="0"/>
                    <a:pt x="3154299" y="124587"/>
                    <a:pt x="3154299" y="278511"/>
                  </a:cubicBezTo>
                  <a:lnTo>
                    <a:pt x="3147949" y="278511"/>
                  </a:lnTo>
                  <a:lnTo>
                    <a:pt x="3154299" y="278511"/>
                  </a:lnTo>
                  <a:lnTo>
                    <a:pt x="3154299" y="469900"/>
                  </a:lnTo>
                  <a:lnTo>
                    <a:pt x="3147949" y="469900"/>
                  </a:lnTo>
                  <a:lnTo>
                    <a:pt x="3154299" y="469900"/>
                  </a:lnTo>
                  <a:cubicBezTo>
                    <a:pt x="3154299" y="623824"/>
                    <a:pt x="3027934" y="748411"/>
                    <a:pt x="2872232" y="748411"/>
                  </a:cubicBezTo>
                  <a:lnTo>
                    <a:pt x="2872232" y="742061"/>
                  </a:lnTo>
                  <a:lnTo>
                    <a:pt x="2872232" y="748411"/>
                  </a:lnTo>
                  <a:lnTo>
                    <a:pt x="282067" y="748411"/>
                  </a:lnTo>
                  <a:lnTo>
                    <a:pt x="282067" y="742061"/>
                  </a:lnTo>
                  <a:lnTo>
                    <a:pt x="282067" y="748411"/>
                  </a:lnTo>
                  <a:cubicBezTo>
                    <a:pt x="126365" y="748538"/>
                    <a:pt x="0" y="623824"/>
                    <a:pt x="0" y="469900"/>
                  </a:cubicBezTo>
                  <a:lnTo>
                    <a:pt x="0" y="278511"/>
                  </a:lnTo>
                  <a:lnTo>
                    <a:pt x="6350" y="278511"/>
                  </a:lnTo>
                  <a:lnTo>
                    <a:pt x="0" y="278511"/>
                  </a:lnTo>
                  <a:moveTo>
                    <a:pt x="12700" y="278511"/>
                  </a:moveTo>
                  <a:lnTo>
                    <a:pt x="12700" y="469900"/>
                  </a:lnTo>
                  <a:lnTo>
                    <a:pt x="6350" y="469900"/>
                  </a:lnTo>
                  <a:lnTo>
                    <a:pt x="12700" y="469900"/>
                  </a:lnTo>
                  <a:cubicBezTo>
                    <a:pt x="12700" y="616585"/>
                    <a:pt x="133223" y="735711"/>
                    <a:pt x="282067" y="735711"/>
                  </a:cubicBezTo>
                  <a:lnTo>
                    <a:pt x="2872232" y="735711"/>
                  </a:lnTo>
                  <a:cubicBezTo>
                    <a:pt x="3021076" y="735711"/>
                    <a:pt x="3141599" y="616585"/>
                    <a:pt x="3141599" y="469900"/>
                  </a:cubicBezTo>
                  <a:lnTo>
                    <a:pt x="3141599" y="278511"/>
                  </a:lnTo>
                  <a:cubicBezTo>
                    <a:pt x="3141726" y="131826"/>
                    <a:pt x="3021076" y="12700"/>
                    <a:pt x="2872232" y="12700"/>
                  </a:cubicBezTo>
                  <a:lnTo>
                    <a:pt x="282067" y="12700"/>
                  </a:lnTo>
                  <a:lnTo>
                    <a:pt x="282067" y="6350"/>
                  </a:lnTo>
                  <a:lnTo>
                    <a:pt x="282067" y="12700"/>
                  </a:lnTo>
                  <a:cubicBezTo>
                    <a:pt x="133223" y="12700"/>
                    <a:pt x="12700" y="131826"/>
                    <a:pt x="12700" y="278511"/>
                  </a:cubicBez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1171870" y="3462785"/>
            <a:ext cx="226809" cy="226809"/>
          </a:xfrm>
          <a:custGeom>
            <a:avLst/>
            <a:gdLst/>
            <a:ahLst/>
            <a:cxnLst/>
            <a:rect r="r" b="b" t="t" l="l"/>
            <a:pathLst>
              <a:path h="226809" w="226809">
                <a:moveTo>
                  <a:pt x="0" y="0"/>
                </a:moveTo>
                <a:lnTo>
                  <a:pt x="226810" y="0"/>
                </a:lnTo>
                <a:lnTo>
                  <a:pt x="226810" y="226809"/>
                </a:lnTo>
                <a:lnTo>
                  <a:pt x="0" y="226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331" r="0" b="-833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12094" y="3299517"/>
            <a:ext cx="1656759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84C1FA"/>
                </a:solidFill>
                <a:latin typeface="Arimo"/>
                <a:ea typeface="Arimo"/>
                <a:cs typeface="Arimo"/>
                <a:sym typeface="Arimo"/>
              </a:rPr>
              <a:t>SUBMITTED BY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3908374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Project Credentials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73188" y="5257648"/>
            <a:ext cx="5283546" cy="1747990"/>
            <a:chOff x="0" y="0"/>
            <a:chExt cx="7044728" cy="23306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6993890" cy="2279777"/>
            </a:xfrm>
            <a:custGeom>
              <a:avLst/>
              <a:gdLst/>
              <a:ahLst/>
              <a:cxnLst/>
              <a:rect r="r" b="b" t="t" l="l"/>
              <a:pathLst>
                <a:path h="2279777" w="6993890">
                  <a:moveTo>
                    <a:pt x="0" y="340233"/>
                  </a:moveTo>
                  <a:cubicBezTo>
                    <a:pt x="0" y="152273"/>
                    <a:pt x="154559" y="0"/>
                    <a:pt x="345313" y="0"/>
                  </a:cubicBezTo>
                  <a:lnTo>
                    <a:pt x="6648577" y="0"/>
                  </a:lnTo>
                  <a:cubicBezTo>
                    <a:pt x="6839331" y="0"/>
                    <a:pt x="6993890" y="152273"/>
                    <a:pt x="6993890" y="340233"/>
                  </a:cubicBezTo>
                  <a:lnTo>
                    <a:pt x="6993890" y="1939544"/>
                  </a:lnTo>
                  <a:cubicBezTo>
                    <a:pt x="6993890" y="2127504"/>
                    <a:pt x="6839331" y="2279777"/>
                    <a:pt x="6648577" y="2279777"/>
                  </a:cubicBezTo>
                  <a:lnTo>
                    <a:pt x="345313" y="2279777"/>
                  </a:lnTo>
                  <a:cubicBezTo>
                    <a:pt x="154559" y="2279904"/>
                    <a:pt x="0" y="2127504"/>
                    <a:pt x="0" y="1939544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44690" cy="2330577"/>
            </a:xfrm>
            <a:custGeom>
              <a:avLst/>
              <a:gdLst/>
              <a:ahLst/>
              <a:cxnLst/>
              <a:rect r="r" b="b" t="t" l="l"/>
              <a:pathLst>
                <a:path h="2330577" w="7044690">
                  <a:moveTo>
                    <a:pt x="0" y="365633"/>
                  </a:moveTo>
                  <a:cubicBezTo>
                    <a:pt x="0" y="163322"/>
                    <a:pt x="166370" y="0"/>
                    <a:pt x="370713" y="0"/>
                  </a:cubicBezTo>
                  <a:lnTo>
                    <a:pt x="6673977" y="0"/>
                  </a:lnTo>
                  <a:lnTo>
                    <a:pt x="6673977" y="25400"/>
                  </a:lnTo>
                  <a:lnTo>
                    <a:pt x="6673977" y="0"/>
                  </a:lnTo>
                  <a:cubicBezTo>
                    <a:pt x="6878320" y="0"/>
                    <a:pt x="7044690" y="163322"/>
                    <a:pt x="7044690" y="365633"/>
                  </a:cubicBezTo>
                  <a:lnTo>
                    <a:pt x="7019290" y="365633"/>
                  </a:lnTo>
                  <a:lnTo>
                    <a:pt x="7044690" y="365633"/>
                  </a:lnTo>
                  <a:lnTo>
                    <a:pt x="7044690" y="1964944"/>
                  </a:lnTo>
                  <a:lnTo>
                    <a:pt x="7019290" y="1964944"/>
                  </a:lnTo>
                  <a:lnTo>
                    <a:pt x="7044690" y="1964944"/>
                  </a:lnTo>
                  <a:cubicBezTo>
                    <a:pt x="7044690" y="2167255"/>
                    <a:pt x="6878320" y="2330577"/>
                    <a:pt x="6673977" y="2330577"/>
                  </a:cubicBezTo>
                  <a:lnTo>
                    <a:pt x="6673977" y="2305177"/>
                  </a:lnTo>
                  <a:lnTo>
                    <a:pt x="6673977" y="2330577"/>
                  </a:lnTo>
                  <a:lnTo>
                    <a:pt x="370713" y="2330577"/>
                  </a:lnTo>
                  <a:lnTo>
                    <a:pt x="370713" y="2305177"/>
                  </a:lnTo>
                  <a:lnTo>
                    <a:pt x="370713" y="2330577"/>
                  </a:lnTo>
                  <a:cubicBezTo>
                    <a:pt x="166370" y="2330704"/>
                    <a:pt x="0" y="2167255"/>
                    <a:pt x="0" y="1964944"/>
                  </a:cubicBezTo>
                  <a:lnTo>
                    <a:pt x="0" y="365633"/>
                  </a:lnTo>
                  <a:lnTo>
                    <a:pt x="25400" y="365633"/>
                  </a:lnTo>
                  <a:lnTo>
                    <a:pt x="0" y="365633"/>
                  </a:lnTo>
                  <a:moveTo>
                    <a:pt x="50800" y="365633"/>
                  </a:moveTo>
                  <a:lnTo>
                    <a:pt x="50800" y="1964944"/>
                  </a:lnTo>
                  <a:lnTo>
                    <a:pt x="25400" y="1964944"/>
                  </a:lnTo>
                  <a:lnTo>
                    <a:pt x="50800" y="1964944"/>
                  </a:lnTo>
                  <a:cubicBezTo>
                    <a:pt x="50800" y="2138426"/>
                    <a:pt x="193675" y="2279777"/>
                    <a:pt x="370713" y="2279777"/>
                  </a:cubicBezTo>
                  <a:lnTo>
                    <a:pt x="6673977" y="2279777"/>
                  </a:lnTo>
                  <a:cubicBezTo>
                    <a:pt x="6851015" y="2279777"/>
                    <a:pt x="6993890" y="2138426"/>
                    <a:pt x="6993890" y="1964944"/>
                  </a:cubicBezTo>
                  <a:lnTo>
                    <a:pt x="6993890" y="365633"/>
                  </a:lnTo>
                  <a:cubicBezTo>
                    <a:pt x="6993890" y="192151"/>
                    <a:pt x="6851015" y="50800"/>
                    <a:pt x="6673977" y="50800"/>
                  </a:cubicBezTo>
                  <a:lnTo>
                    <a:pt x="370713" y="50800"/>
                  </a:lnTo>
                  <a:lnTo>
                    <a:pt x="370713" y="25400"/>
                  </a:lnTo>
                  <a:lnTo>
                    <a:pt x="370713" y="50800"/>
                  </a:lnTo>
                  <a:cubicBezTo>
                    <a:pt x="193675" y="50800"/>
                    <a:pt x="50800" y="192151"/>
                    <a:pt x="50800" y="365633"/>
                  </a:cubicBezTo>
                  <a:close/>
                </a:path>
              </a:pathLst>
            </a:custGeom>
            <a:solidFill>
              <a:srgbClr val="B4CCE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313859" y="5560219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Name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3859" y="6106563"/>
            <a:ext cx="460221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Priyanshu Maheshwari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02156" y="5257648"/>
            <a:ext cx="5283546" cy="1747990"/>
            <a:chOff x="0" y="0"/>
            <a:chExt cx="7044728" cy="23306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25400" y="25400"/>
              <a:ext cx="6993890" cy="2279777"/>
            </a:xfrm>
            <a:custGeom>
              <a:avLst/>
              <a:gdLst/>
              <a:ahLst/>
              <a:cxnLst/>
              <a:rect r="r" b="b" t="t" l="l"/>
              <a:pathLst>
                <a:path h="2279777" w="6993890">
                  <a:moveTo>
                    <a:pt x="0" y="340233"/>
                  </a:moveTo>
                  <a:cubicBezTo>
                    <a:pt x="0" y="152273"/>
                    <a:pt x="154559" y="0"/>
                    <a:pt x="345313" y="0"/>
                  </a:cubicBezTo>
                  <a:lnTo>
                    <a:pt x="6648577" y="0"/>
                  </a:lnTo>
                  <a:cubicBezTo>
                    <a:pt x="6839331" y="0"/>
                    <a:pt x="6993890" y="152273"/>
                    <a:pt x="6993890" y="340233"/>
                  </a:cubicBezTo>
                  <a:lnTo>
                    <a:pt x="6993890" y="1939544"/>
                  </a:lnTo>
                  <a:cubicBezTo>
                    <a:pt x="6993890" y="2127504"/>
                    <a:pt x="6839331" y="2279777"/>
                    <a:pt x="6648577" y="2279777"/>
                  </a:cubicBezTo>
                  <a:lnTo>
                    <a:pt x="345313" y="2279777"/>
                  </a:lnTo>
                  <a:cubicBezTo>
                    <a:pt x="154559" y="2279904"/>
                    <a:pt x="0" y="2127504"/>
                    <a:pt x="0" y="1939544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44690" cy="2330577"/>
            </a:xfrm>
            <a:custGeom>
              <a:avLst/>
              <a:gdLst/>
              <a:ahLst/>
              <a:cxnLst/>
              <a:rect r="r" b="b" t="t" l="l"/>
              <a:pathLst>
                <a:path h="2330577" w="7044690">
                  <a:moveTo>
                    <a:pt x="0" y="365633"/>
                  </a:moveTo>
                  <a:cubicBezTo>
                    <a:pt x="0" y="163322"/>
                    <a:pt x="166370" y="0"/>
                    <a:pt x="370713" y="0"/>
                  </a:cubicBezTo>
                  <a:lnTo>
                    <a:pt x="6673977" y="0"/>
                  </a:lnTo>
                  <a:lnTo>
                    <a:pt x="6673977" y="25400"/>
                  </a:lnTo>
                  <a:lnTo>
                    <a:pt x="6673977" y="0"/>
                  </a:lnTo>
                  <a:cubicBezTo>
                    <a:pt x="6878320" y="0"/>
                    <a:pt x="7044690" y="163322"/>
                    <a:pt x="7044690" y="365633"/>
                  </a:cubicBezTo>
                  <a:lnTo>
                    <a:pt x="7019290" y="365633"/>
                  </a:lnTo>
                  <a:lnTo>
                    <a:pt x="7044690" y="365633"/>
                  </a:lnTo>
                  <a:lnTo>
                    <a:pt x="7044690" y="1964944"/>
                  </a:lnTo>
                  <a:lnTo>
                    <a:pt x="7019290" y="1964944"/>
                  </a:lnTo>
                  <a:lnTo>
                    <a:pt x="7044690" y="1964944"/>
                  </a:lnTo>
                  <a:cubicBezTo>
                    <a:pt x="7044690" y="2167255"/>
                    <a:pt x="6878320" y="2330577"/>
                    <a:pt x="6673977" y="2330577"/>
                  </a:cubicBezTo>
                  <a:lnTo>
                    <a:pt x="6673977" y="2305177"/>
                  </a:lnTo>
                  <a:lnTo>
                    <a:pt x="6673977" y="2330577"/>
                  </a:lnTo>
                  <a:lnTo>
                    <a:pt x="370713" y="2330577"/>
                  </a:lnTo>
                  <a:lnTo>
                    <a:pt x="370713" y="2305177"/>
                  </a:lnTo>
                  <a:lnTo>
                    <a:pt x="370713" y="2330577"/>
                  </a:lnTo>
                  <a:cubicBezTo>
                    <a:pt x="166370" y="2330704"/>
                    <a:pt x="0" y="2167255"/>
                    <a:pt x="0" y="1964944"/>
                  </a:cubicBezTo>
                  <a:lnTo>
                    <a:pt x="0" y="365633"/>
                  </a:lnTo>
                  <a:lnTo>
                    <a:pt x="25400" y="365633"/>
                  </a:lnTo>
                  <a:lnTo>
                    <a:pt x="0" y="365633"/>
                  </a:lnTo>
                  <a:moveTo>
                    <a:pt x="50800" y="365633"/>
                  </a:moveTo>
                  <a:lnTo>
                    <a:pt x="50800" y="1964944"/>
                  </a:lnTo>
                  <a:lnTo>
                    <a:pt x="25400" y="1964944"/>
                  </a:lnTo>
                  <a:lnTo>
                    <a:pt x="50800" y="1964944"/>
                  </a:lnTo>
                  <a:cubicBezTo>
                    <a:pt x="50800" y="2138426"/>
                    <a:pt x="193675" y="2279777"/>
                    <a:pt x="370713" y="2279777"/>
                  </a:cubicBezTo>
                  <a:lnTo>
                    <a:pt x="6673977" y="2279777"/>
                  </a:lnTo>
                  <a:cubicBezTo>
                    <a:pt x="6851015" y="2279777"/>
                    <a:pt x="6993890" y="2138426"/>
                    <a:pt x="6993890" y="1964944"/>
                  </a:cubicBezTo>
                  <a:lnTo>
                    <a:pt x="6993890" y="365633"/>
                  </a:lnTo>
                  <a:cubicBezTo>
                    <a:pt x="6993890" y="192151"/>
                    <a:pt x="6851015" y="50800"/>
                    <a:pt x="6673977" y="50800"/>
                  </a:cubicBezTo>
                  <a:lnTo>
                    <a:pt x="370713" y="50800"/>
                  </a:lnTo>
                  <a:lnTo>
                    <a:pt x="370713" y="25400"/>
                  </a:lnTo>
                  <a:lnTo>
                    <a:pt x="370713" y="50800"/>
                  </a:lnTo>
                  <a:cubicBezTo>
                    <a:pt x="193675" y="50800"/>
                    <a:pt x="50800" y="192151"/>
                    <a:pt x="50800" y="365633"/>
                  </a:cubicBezTo>
                  <a:close/>
                </a:path>
              </a:pathLst>
            </a:custGeom>
            <a:solidFill>
              <a:srgbClr val="B4CCE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6842817" y="5560219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Roll Number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42817" y="6106563"/>
            <a:ext cx="460221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24/SCA/MCA/038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31113" y="5257648"/>
            <a:ext cx="5283546" cy="1747990"/>
            <a:chOff x="0" y="0"/>
            <a:chExt cx="7044728" cy="233065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5400" y="25400"/>
              <a:ext cx="6993890" cy="2279777"/>
            </a:xfrm>
            <a:custGeom>
              <a:avLst/>
              <a:gdLst/>
              <a:ahLst/>
              <a:cxnLst/>
              <a:rect r="r" b="b" t="t" l="l"/>
              <a:pathLst>
                <a:path h="2279777" w="6993890">
                  <a:moveTo>
                    <a:pt x="0" y="340233"/>
                  </a:moveTo>
                  <a:cubicBezTo>
                    <a:pt x="0" y="152273"/>
                    <a:pt x="154559" y="0"/>
                    <a:pt x="345313" y="0"/>
                  </a:cubicBezTo>
                  <a:lnTo>
                    <a:pt x="6648577" y="0"/>
                  </a:lnTo>
                  <a:cubicBezTo>
                    <a:pt x="6839331" y="0"/>
                    <a:pt x="6993890" y="152273"/>
                    <a:pt x="6993890" y="340233"/>
                  </a:cubicBezTo>
                  <a:lnTo>
                    <a:pt x="6993890" y="1939544"/>
                  </a:lnTo>
                  <a:cubicBezTo>
                    <a:pt x="6993890" y="2127504"/>
                    <a:pt x="6839331" y="2279777"/>
                    <a:pt x="6648577" y="2279777"/>
                  </a:cubicBezTo>
                  <a:lnTo>
                    <a:pt x="345313" y="2279777"/>
                  </a:lnTo>
                  <a:cubicBezTo>
                    <a:pt x="154559" y="2279904"/>
                    <a:pt x="0" y="2127504"/>
                    <a:pt x="0" y="1939544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44690" cy="2330577"/>
            </a:xfrm>
            <a:custGeom>
              <a:avLst/>
              <a:gdLst/>
              <a:ahLst/>
              <a:cxnLst/>
              <a:rect r="r" b="b" t="t" l="l"/>
              <a:pathLst>
                <a:path h="2330577" w="7044690">
                  <a:moveTo>
                    <a:pt x="0" y="365633"/>
                  </a:moveTo>
                  <a:cubicBezTo>
                    <a:pt x="0" y="163322"/>
                    <a:pt x="166370" y="0"/>
                    <a:pt x="370713" y="0"/>
                  </a:cubicBezTo>
                  <a:lnTo>
                    <a:pt x="6673977" y="0"/>
                  </a:lnTo>
                  <a:lnTo>
                    <a:pt x="6673977" y="25400"/>
                  </a:lnTo>
                  <a:lnTo>
                    <a:pt x="6673977" y="0"/>
                  </a:lnTo>
                  <a:cubicBezTo>
                    <a:pt x="6878320" y="0"/>
                    <a:pt x="7044690" y="163322"/>
                    <a:pt x="7044690" y="365633"/>
                  </a:cubicBezTo>
                  <a:lnTo>
                    <a:pt x="7019290" y="365633"/>
                  </a:lnTo>
                  <a:lnTo>
                    <a:pt x="7044690" y="365633"/>
                  </a:lnTo>
                  <a:lnTo>
                    <a:pt x="7044690" y="1964944"/>
                  </a:lnTo>
                  <a:lnTo>
                    <a:pt x="7019290" y="1964944"/>
                  </a:lnTo>
                  <a:lnTo>
                    <a:pt x="7044690" y="1964944"/>
                  </a:lnTo>
                  <a:cubicBezTo>
                    <a:pt x="7044690" y="2167255"/>
                    <a:pt x="6878320" y="2330577"/>
                    <a:pt x="6673977" y="2330577"/>
                  </a:cubicBezTo>
                  <a:lnTo>
                    <a:pt x="6673977" y="2305177"/>
                  </a:lnTo>
                  <a:lnTo>
                    <a:pt x="6673977" y="2330577"/>
                  </a:lnTo>
                  <a:lnTo>
                    <a:pt x="370713" y="2330577"/>
                  </a:lnTo>
                  <a:lnTo>
                    <a:pt x="370713" y="2305177"/>
                  </a:lnTo>
                  <a:lnTo>
                    <a:pt x="370713" y="2330577"/>
                  </a:lnTo>
                  <a:cubicBezTo>
                    <a:pt x="166370" y="2330704"/>
                    <a:pt x="0" y="2167255"/>
                    <a:pt x="0" y="1964944"/>
                  </a:cubicBezTo>
                  <a:lnTo>
                    <a:pt x="0" y="365633"/>
                  </a:lnTo>
                  <a:lnTo>
                    <a:pt x="25400" y="365633"/>
                  </a:lnTo>
                  <a:lnTo>
                    <a:pt x="0" y="365633"/>
                  </a:lnTo>
                  <a:moveTo>
                    <a:pt x="50800" y="365633"/>
                  </a:moveTo>
                  <a:lnTo>
                    <a:pt x="50800" y="1964944"/>
                  </a:lnTo>
                  <a:lnTo>
                    <a:pt x="25400" y="1964944"/>
                  </a:lnTo>
                  <a:lnTo>
                    <a:pt x="50800" y="1964944"/>
                  </a:lnTo>
                  <a:cubicBezTo>
                    <a:pt x="50800" y="2138426"/>
                    <a:pt x="193675" y="2279777"/>
                    <a:pt x="370713" y="2279777"/>
                  </a:cubicBezTo>
                  <a:lnTo>
                    <a:pt x="6673977" y="2279777"/>
                  </a:lnTo>
                  <a:cubicBezTo>
                    <a:pt x="6851015" y="2279777"/>
                    <a:pt x="6993890" y="2138426"/>
                    <a:pt x="6993890" y="1964944"/>
                  </a:cubicBezTo>
                  <a:lnTo>
                    <a:pt x="6993890" y="365633"/>
                  </a:lnTo>
                  <a:cubicBezTo>
                    <a:pt x="6993890" y="192151"/>
                    <a:pt x="6851015" y="50800"/>
                    <a:pt x="6673977" y="50800"/>
                  </a:cubicBezTo>
                  <a:lnTo>
                    <a:pt x="370713" y="50800"/>
                  </a:lnTo>
                  <a:lnTo>
                    <a:pt x="370713" y="25400"/>
                  </a:lnTo>
                  <a:lnTo>
                    <a:pt x="370713" y="50800"/>
                  </a:lnTo>
                  <a:cubicBezTo>
                    <a:pt x="193675" y="50800"/>
                    <a:pt x="50800" y="192151"/>
                    <a:pt x="50800" y="365633"/>
                  </a:cubicBezTo>
                  <a:close/>
                </a:path>
              </a:pathLst>
            </a:custGeom>
            <a:solidFill>
              <a:srgbClr val="B4CCE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2371784" y="5560219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Programme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71784" y="6106563"/>
            <a:ext cx="460221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MCA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028405"/>
            <a:ext cx="2254748" cy="532809"/>
            <a:chOff x="0" y="0"/>
            <a:chExt cx="3006331" cy="710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06344" cy="710438"/>
            </a:xfrm>
            <a:custGeom>
              <a:avLst/>
              <a:gdLst/>
              <a:ahLst/>
              <a:cxnLst/>
              <a:rect r="r" b="b" t="t" l="l"/>
              <a:pathLst>
                <a:path h="710438" w="3006344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2734183" y="0"/>
                  </a:lnTo>
                  <a:cubicBezTo>
                    <a:pt x="2884551" y="0"/>
                    <a:pt x="3006344" y="121920"/>
                    <a:pt x="3006344" y="272161"/>
                  </a:cubicBezTo>
                  <a:lnTo>
                    <a:pt x="3006344" y="438277"/>
                  </a:lnTo>
                  <a:cubicBezTo>
                    <a:pt x="3006344" y="588645"/>
                    <a:pt x="2884424" y="710438"/>
                    <a:pt x="2734183" y="710438"/>
                  </a:cubicBezTo>
                  <a:lnTo>
                    <a:pt x="272161" y="710438"/>
                  </a:lnTo>
                  <a:cubicBezTo>
                    <a:pt x="121920" y="710438"/>
                    <a:pt x="0" y="588518"/>
                    <a:pt x="0" y="438277"/>
                  </a:cubicBezTo>
                  <a:close/>
                </a:path>
              </a:pathLst>
            </a:custGeom>
            <a:solidFill>
              <a:srgbClr val="CEE6F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1162345" y="1181395"/>
            <a:ext cx="226809" cy="226809"/>
          </a:xfrm>
          <a:custGeom>
            <a:avLst/>
            <a:gdLst/>
            <a:ahLst/>
            <a:cxnLst/>
            <a:rect r="r" b="b" t="t" l="l"/>
            <a:pathLst>
              <a:path h="226809" w="226809">
                <a:moveTo>
                  <a:pt x="0" y="0"/>
                </a:moveTo>
                <a:lnTo>
                  <a:pt x="226810" y="0"/>
                </a:lnTo>
                <a:lnTo>
                  <a:pt x="226810" y="226810"/>
                </a:lnTo>
                <a:lnTo>
                  <a:pt x="0" y="2268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02569" y="1018137"/>
            <a:ext cx="1574302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FOCUS AREAS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1617459"/>
            <a:ext cx="10952559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Five Pillars of the Trading System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2985792"/>
            <a:ext cx="5245446" cy="3221384"/>
            <a:chOff x="0" y="0"/>
            <a:chExt cx="6993928" cy="42951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3889" cy="4295140"/>
            </a:xfrm>
            <a:custGeom>
              <a:avLst/>
              <a:gdLst/>
              <a:ahLst/>
              <a:cxnLst/>
              <a:rect r="r" b="b" t="t" l="l"/>
              <a:pathLst>
                <a:path h="4295140" w="6993889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6653657" y="0"/>
                  </a:lnTo>
                  <a:cubicBezTo>
                    <a:pt x="6841617" y="0"/>
                    <a:pt x="6993889" y="152273"/>
                    <a:pt x="6993889" y="340233"/>
                  </a:cubicBezTo>
                  <a:lnTo>
                    <a:pt x="6993889" y="3954907"/>
                  </a:lnTo>
                  <a:cubicBezTo>
                    <a:pt x="6993889" y="4142867"/>
                    <a:pt x="6841617" y="4295140"/>
                    <a:pt x="6653657" y="4295140"/>
                  </a:cubicBezTo>
                  <a:lnTo>
                    <a:pt x="340233" y="4295140"/>
                  </a:lnTo>
                  <a:cubicBezTo>
                    <a:pt x="152273" y="4295140"/>
                    <a:pt x="0" y="4142867"/>
                    <a:pt x="0" y="3954907"/>
                  </a:cubicBezTo>
                  <a:close/>
                </a:path>
              </a:pathLst>
            </a:custGeom>
            <a:solidFill>
              <a:srgbClr val="CEE6F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75759" y="3269304"/>
            <a:ext cx="850554" cy="850554"/>
            <a:chOff x="0" y="0"/>
            <a:chExt cx="1134072" cy="11340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1509712" y="3503114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9" y="0"/>
                </a:lnTo>
                <a:lnTo>
                  <a:pt x="382639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8535" t="0" r="-8538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75759" y="4365279"/>
            <a:ext cx="4257970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Market Regime Detection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5759" y="4911623"/>
            <a:ext cx="467841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Using Hidden Markov Models to identify market phases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21206" y="2985792"/>
            <a:ext cx="5245446" cy="3221384"/>
            <a:chOff x="0" y="0"/>
            <a:chExt cx="6993928" cy="42951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3889" cy="4295140"/>
            </a:xfrm>
            <a:custGeom>
              <a:avLst/>
              <a:gdLst/>
              <a:ahLst/>
              <a:cxnLst/>
              <a:rect r="r" b="b" t="t" l="l"/>
              <a:pathLst>
                <a:path h="4295140" w="6993889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6653657" y="0"/>
                  </a:lnTo>
                  <a:cubicBezTo>
                    <a:pt x="6841617" y="0"/>
                    <a:pt x="6993889" y="152273"/>
                    <a:pt x="6993889" y="340233"/>
                  </a:cubicBezTo>
                  <a:lnTo>
                    <a:pt x="6993889" y="3954907"/>
                  </a:lnTo>
                  <a:cubicBezTo>
                    <a:pt x="6993889" y="4142867"/>
                    <a:pt x="6841617" y="4295140"/>
                    <a:pt x="6653657" y="4295140"/>
                  </a:cubicBezTo>
                  <a:lnTo>
                    <a:pt x="340233" y="4295140"/>
                  </a:lnTo>
                  <a:cubicBezTo>
                    <a:pt x="152273" y="4295140"/>
                    <a:pt x="0" y="4142867"/>
                    <a:pt x="0" y="3954907"/>
                  </a:cubicBezTo>
                  <a:close/>
                </a:path>
              </a:pathLst>
            </a:custGeom>
            <a:solidFill>
              <a:srgbClr val="CEE6F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804717" y="3269304"/>
            <a:ext cx="850554" cy="850554"/>
            <a:chOff x="0" y="0"/>
            <a:chExt cx="1134072" cy="11340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7038680" y="3503114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8535" r="0" b="-58535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804717" y="4365279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Feature Engineering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04717" y="4911623"/>
            <a:ext cx="467841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Price, futures, and options data transformation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050163" y="2985792"/>
            <a:ext cx="5245446" cy="3221384"/>
            <a:chOff x="0" y="0"/>
            <a:chExt cx="6993928" cy="429517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93889" cy="4295140"/>
            </a:xfrm>
            <a:custGeom>
              <a:avLst/>
              <a:gdLst/>
              <a:ahLst/>
              <a:cxnLst/>
              <a:rect r="r" b="b" t="t" l="l"/>
              <a:pathLst>
                <a:path h="4295140" w="6993889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6653657" y="0"/>
                  </a:lnTo>
                  <a:cubicBezTo>
                    <a:pt x="6841617" y="0"/>
                    <a:pt x="6993889" y="152273"/>
                    <a:pt x="6993889" y="340233"/>
                  </a:cubicBezTo>
                  <a:lnTo>
                    <a:pt x="6993889" y="3954907"/>
                  </a:lnTo>
                  <a:cubicBezTo>
                    <a:pt x="6993889" y="4142867"/>
                    <a:pt x="6841617" y="4295140"/>
                    <a:pt x="6653657" y="4295140"/>
                  </a:cubicBezTo>
                  <a:lnTo>
                    <a:pt x="340233" y="4295140"/>
                  </a:lnTo>
                  <a:cubicBezTo>
                    <a:pt x="152273" y="4295140"/>
                    <a:pt x="0" y="4142867"/>
                    <a:pt x="0" y="3954907"/>
                  </a:cubicBezTo>
                  <a:close/>
                </a:path>
              </a:pathLst>
            </a:custGeom>
            <a:solidFill>
              <a:srgbClr val="CEE6F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333684" y="3269304"/>
            <a:ext cx="850554" cy="850554"/>
            <a:chOff x="0" y="0"/>
            <a:chExt cx="1134072" cy="11340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12567647" y="3503114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0975" t="0" r="-10975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2333684" y="4365279"/>
            <a:ext cx="3973268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Regime-Aware Strategy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33684" y="4911623"/>
            <a:ext cx="467841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EMA-based trading with regime filters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92238" y="6490697"/>
            <a:ext cx="8009934" cy="2767755"/>
            <a:chOff x="0" y="0"/>
            <a:chExt cx="10679913" cy="369034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79938" cy="3690366"/>
            </a:xfrm>
            <a:custGeom>
              <a:avLst/>
              <a:gdLst/>
              <a:ahLst/>
              <a:cxnLst/>
              <a:rect r="r" b="b" t="t" l="l"/>
              <a:pathLst>
                <a:path h="3690366" w="10679938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10339705" y="0"/>
                  </a:lnTo>
                  <a:cubicBezTo>
                    <a:pt x="10527665" y="0"/>
                    <a:pt x="10679938" y="152273"/>
                    <a:pt x="10679938" y="340233"/>
                  </a:cubicBezTo>
                  <a:lnTo>
                    <a:pt x="10679938" y="3350133"/>
                  </a:lnTo>
                  <a:cubicBezTo>
                    <a:pt x="10679938" y="3538093"/>
                    <a:pt x="10527665" y="3690366"/>
                    <a:pt x="10339705" y="3690366"/>
                  </a:cubicBezTo>
                  <a:lnTo>
                    <a:pt x="340233" y="3690366"/>
                  </a:lnTo>
                  <a:cubicBezTo>
                    <a:pt x="152273" y="3690366"/>
                    <a:pt x="0" y="3537966"/>
                    <a:pt x="0" y="3350133"/>
                  </a:cubicBezTo>
                  <a:close/>
                </a:path>
              </a:pathLst>
            </a:custGeom>
            <a:solidFill>
              <a:srgbClr val="CEE6F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75759" y="6774209"/>
            <a:ext cx="850554" cy="850554"/>
            <a:chOff x="0" y="0"/>
            <a:chExt cx="1134072" cy="11340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1509712" y="7008019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9" y="0"/>
                </a:lnTo>
                <a:lnTo>
                  <a:pt x="382639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275759" y="7870184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ML Trade Filtering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75759" y="8416528"/>
            <a:ext cx="7442892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Machine learning to filter weak signals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285684" y="6490697"/>
            <a:ext cx="8009934" cy="2767755"/>
            <a:chOff x="0" y="0"/>
            <a:chExt cx="10679913" cy="369034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679938" cy="3690366"/>
            </a:xfrm>
            <a:custGeom>
              <a:avLst/>
              <a:gdLst/>
              <a:ahLst/>
              <a:cxnLst/>
              <a:rect r="r" b="b" t="t" l="l"/>
              <a:pathLst>
                <a:path h="3690366" w="10679938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10339705" y="0"/>
                  </a:lnTo>
                  <a:cubicBezTo>
                    <a:pt x="10527665" y="0"/>
                    <a:pt x="10679938" y="152273"/>
                    <a:pt x="10679938" y="340233"/>
                  </a:cubicBezTo>
                  <a:lnTo>
                    <a:pt x="10679938" y="3350133"/>
                  </a:lnTo>
                  <a:cubicBezTo>
                    <a:pt x="10679938" y="3538093"/>
                    <a:pt x="10527665" y="3690366"/>
                    <a:pt x="10339705" y="3690366"/>
                  </a:cubicBezTo>
                  <a:lnTo>
                    <a:pt x="340233" y="3690366"/>
                  </a:lnTo>
                  <a:cubicBezTo>
                    <a:pt x="152273" y="3690366"/>
                    <a:pt x="0" y="3537966"/>
                    <a:pt x="0" y="3350133"/>
                  </a:cubicBezTo>
                  <a:close/>
                </a:path>
              </a:pathLst>
            </a:custGeom>
            <a:solidFill>
              <a:srgbClr val="CEE6F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569206" y="6774209"/>
            <a:ext cx="850554" cy="850554"/>
            <a:chOff x="0" y="0"/>
            <a:chExt cx="1134072" cy="11340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43" id="43" descr="preencoded.png"/>
          <p:cNvSpPr/>
          <p:nvPr/>
        </p:nvSpPr>
        <p:spPr>
          <a:xfrm flipH="false" flipV="false" rot="0">
            <a:off x="9803159" y="7008019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9569206" y="7870184"/>
            <a:ext cx="3643465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Performance Analysis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69206" y="8416528"/>
            <a:ext cx="7442892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Evaluation and outlier trade detection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823590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Executive Summary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228975"/>
            <a:ext cx="283521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777558"/>
            <a:ext cx="5245446" cy="38100"/>
            <a:chOff x="0" y="0"/>
            <a:chExt cx="6993928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395734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Market Classification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503687"/>
            <a:ext cx="5245446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System classifies market into uptrend, sideways, or downtrend regimes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21206" y="3228975"/>
            <a:ext cx="283521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21206" y="3777558"/>
            <a:ext cx="5245446" cy="38100"/>
            <a:chOff x="0" y="0"/>
            <a:chExt cx="6993928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6521206" y="3957342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Selective Trading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21206" y="4503687"/>
            <a:ext cx="5245446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Trades executed only during trending regimes, avoiding sideways markets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50163" y="3228975"/>
            <a:ext cx="283521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50163" y="3777558"/>
            <a:ext cx="5245446" cy="38100"/>
            <a:chOff x="0" y="0"/>
            <a:chExt cx="6993928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2050163" y="3957342"/>
            <a:ext cx="4080872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EMA Crossover Strategy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50163" y="4503687"/>
            <a:ext cx="5245446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Basic EMA crossover strategy forms the foundation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5906986"/>
            <a:ext cx="283521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238" y="6455569"/>
            <a:ext cx="8009934" cy="38100"/>
            <a:chOff x="0" y="0"/>
            <a:chExt cx="10679913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92238" y="6635353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ML Enhancement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238" y="7181698"/>
            <a:ext cx="8009934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Machine learning model filters weak signals for better results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85684" y="5906986"/>
            <a:ext cx="283521" cy="45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05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85684" y="6455569"/>
            <a:ext cx="8009934" cy="38100"/>
            <a:chOff x="0" y="0"/>
            <a:chExt cx="10679913" cy="50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9285684" y="6635353"/>
            <a:ext cx="3847805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Improved Performance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85684" y="7181698"/>
            <a:ext cx="8009934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Enhanced stability, reduced drawdown, and superior performance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458516"/>
            <a:ext cx="2312489" cy="532809"/>
            <a:chOff x="0" y="0"/>
            <a:chExt cx="3083319" cy="710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83306" cy="710438"/>
            </a:xfrm>
            <a:custGeom>
              <a:avLst/>
              <a:gdLst/>
              <a:ahLst/>
              <a:cxnLst/>
              <a:rect r="r" b="b" t="t" l="l"/>
              <a:pathLst>
                <a:path h="710438" w="3083306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2811145" y="0"/>
                  </a:lnTo>
                  <a:cubicBezTo>
                    <a:pt x="2961513" y="0"/>
                    <a:pt x="3083306" y="121920"/>
                    <a:pt x="3083306" y="272161"/>
                  </a:cubicBezTo>
                  <a:lnTo>
                    <a:pt x="3083306" y="438277"/>
                  </a:lnTo>
                  <a:cubicBezTo>
                    <a:pt x="3083306" y="588645"/>
                    <a:pt x="2961386" y="710438"/>
                    <a:pt x="2811145" y="710438"/>
                  </a:cubicBezTo>
                  <a:lnTo>
                    <a:pt x="272161" y="710438"/>
                  </a:lnTo>
                  <a:cubicBezTo>
                    <a:pt x="121920" y="710438"/>
                    <a:pt x="0" y="588518"/>
                    <a:pt x="0" y="438277"/>
                  </a:cubicBezTo>
                  <a:close/>
                </a:path>
              </a:pathLst>
            </a:custGeom>
            <a:solidFill>
              <a:srgbClr val="CEE6F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1162345" y="1611516"/>
            <a:ext cx="226809" cy="226809"/>
          </a:xfrm>
          <a:custGeom>
            <a:avLst/>
            <a:gdLst/>
            <a:ahLst/>
            <a:cxnLst/>
            <a:rect r="r" b="b" t="t" l="l"/>
            <a:pathLst>
              <a:path h="226809" w="226809">
                <a:moveTo>
                  <a:pt x="0" y="0"/>
                </a:moveTo>
                <a:lnTo>
                  <a:pt x="226810" y="0"/>
                </a:lnTo>
                <a:lnTo>
                  <a:pt x="226810" y="226809"/>
                </a:lnTo>
                <a:lnTo>
                  <a:pt x="0" y="226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331" r="0" b="-833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02569" y="1448248"/>
            <a:ext cx="1632052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750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DATA PIPELINE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047580"/>
            <a:ext cx="9915077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Multi-Source Data Integration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3661324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NIFTY Spot Data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4321073"/>
            <a:ext cx="4916691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5-minute OHLCV data providing real-time market movements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92238" y="5652049"/>
            <a:ext cx="2857500" cy="2857500"/>
          </a:xfrm>
          <a:custGeom>
            <a:avLst/>
            <a:gdLst/>
            <a:ahLst/>
            <a:cxnLst/>
            <a:rect r="r" b="b" t="t" l="l"/>
            <a:pathLst>
              <a:path h="2857500" w="2857500">
                <a:moveTo>
                  <a:pt x="0" y="0"/>
                </a:moveTo>
                <a:lnTo>
                  <a:pt x="2857500" y="0"/>
                </a:lnTo>
                <a:lnTo>
                  <a:pt x="285750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610198" y="3661324"/>
            <a:ext cx="3815210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Synthetic Futures Data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10198" y="4321073"/>
            <a:ext cx="4916691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Created from spot prices for derivatives analysis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6610198" y="5652049"/>
            <a:ext cx="2857500" cy="2857500"/>
          </a:xfrm>
          <a:custGeom>
            <a:avLst/>
            <a:gdLst/>
            <a:ahLst/>
            <a:cxnLst/>
            <a:rect r="r" b="b" t="t" l="l"/>
            <a:pathLst>
              <a:path h="2857500" w="2857500">
                <a:moveTo>
                  <a:pt x="0" y="0"/>
                </a:moveTo>
                <a:lnTo>
                  <a:pt x="2857500" y="0"/>
                </a:lnTo>
                <a:lnTo>
                  <a:pt x="285750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228166" y="3661324"/>
            <a:ext cx="3875189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Synthetic Options Data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28166" y="4321073"/>
            <a:ext cx="5086502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IV and PCR based features for options intelligence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12228166" y="5652049"/>
            <a:ext cx="2857500" cy="2857500"/>
          </a:xfrm>
          <a:custGeom>
            <a:avLst/>
            <a:gdLst/>
            <a:ahLst/>
            <a:cxnLst/>
            <a:rect r="r" b="b" t="t" l="l"/>
            <a:pathLst>
              <a:path h="2857500" w="2857500">
                <a:moveTo>
                  <a:pt x="0" y="0"/>
                </a:moveTo>
                <a:lnTo>
                  <a:pt x="2857500" y="0"/>
                </a:lnTo>
                <a:lnTo>
                  <a:pt x="285750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79589" y="712441"/>
            <a:ext cx="6997303" cy="931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Feature Engineering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9589" y="2099224"/>
            <a:ext cx="16328822" cy="55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Six critical features power the trading system's decision-making process: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79589" y="2966590"/>
            <a:ext cx="2215458" cy="1369219"/>
          </a:xfrm>
          <a:custGeom>
            <a:avLst/>
            <a:gdLst/>
            <a:ahLst/>
            <a:cxnLst/>
            <a:rect r="r" b="b" t="t" l="l"/>
            <a:pathLst>
              <a:path h="1369219" w="2215458">
                <a:moveTo>
                  <a:pt x="0" y="0"/>
                </a:moveTo>
                <a:lnTo>
                  <a:pt x="2215458" y="0"/>
                </a:lnTo>
                <a:lnTo>
                  <a:pt x="2215458" y="1369219"/>
                </a:lnTo>
                <a:lnTo>
                  <a:pt x="0" y="13692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79589" y="4647457"/>
            <a:ext cx="3498647" cy="47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EMA 5 and EMA 15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9589" y="5185915"/>
            <a:ext cx="3819820" cy="1000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Short and medium-term trend indicators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5149158" y="2966590"/>
            <a:ext cx="2215458" cy="1369219"/>
          </a:xfrm>
          <a:custGeom>
            <a:avLst/>
            <a:gdLst/>
            <a:ahLst/>
            <a:cxnLst/>
            <a:rect r="r" b="b" t="t" l="l"/>
            <a:pathLst>
              <a:path h="1369219" w="2215458">
                <a:moveTo>
                  <a:pt x="0" y="0"/>
                </a:moveTo>
                <a:lnTo>
                  <a:pt x="2215458" y="0"/>
                </a:lnTo>
                <a:lnTo>
                  <a:pt x="2215458" y="1369219"/>
                </a:lnTo>
                <a:lnTo>
                  <a:pt x="0" y="13692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149158" y="4647457"/>
            <a:ext cx="3498647" cy="47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Spot Returns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49158" y="5185915"/>
            <a:ext cx="3819973" cy="1000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Price momentum measurement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318869" y="2966590"/>
            <a:ext cx="2215458" cy="1369219"/>
          </a:xfrm>
          <a:custGeom>
            <a:avLst/>
            <a:gdLst/>
            <a:ahLst/>
            <a:cxnLst/>
            <a:rect r="r" b="b" t="t" l="l"/>
            <a:pathLst>
              <a:path h="1369219" w="2215458">
                <a:moveTo>
                  <a:pt x="0" y="0"/>
                </a:moveTo>
                <a:lnTo>
                  <a:pt x="2215458" y="0"/>
                </a:lnTo>
                <a:lnTo>
                  <a:pt x="2215458" y="1369219"/>
                </a:lnTo>
                <a:lnTo>
                  <a:pt x="0" y="13692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318869" y="4647457"/>
            <a:ext cx="3819820" cy="912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Average Implied Volatility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18869" y="5623169"/>
            <a:ext cx="3819820" cy="55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Market uncertainty gauge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3488438" y="2966590"/>
            <a:ext cx="2215458" cy="1369219"/>
          </a:xfrm>
          <a:custGeom>
            <a:avLst/>
            <a:gdLst/>
            <a:ahLst/>
            <a:cxnLst/>
            <a:rect r="r" b="b" t="t" l="l"/>
            <a:pathLst>
              <a:path h="1369219" w="2215458">
                <a:moveTo>
                  <a:pt x="0" y="0"/>
                </a:moveTo>
                <a:lnTo>
                  <a:pt x="2215458" y="0"/>
                </a:lnTo>
                <a:lnTo>
                  <a:pt x="2215458" y="1369219"/>
                </a:lnTo>
                <a:lnTo>
                  <a:pt x="0" y="13692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488438" y="4647457"/>
            <a:ext cx="3498647" cy="47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IV Spread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488438" y="5185915"/>
            <a:ext cx="3819973" cy="55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Volatility differential tracking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79589" y="6746081"/>
            <a:ext cx="2215458" cy="1369219"/>
          </a:xfrm>
          <a:custGeom>
            <a:avLst/>
            <a:gdLst/>
            <a:ahLst/>
            <a:cxnLst/>
            <a:rect r="r" b="b" t="t" l="l"/>
            <a:pathLst>
              <a:path h="1369219" w="2215458">
                <a:moveTo>
                  <a:pt x="0" y="0"/>
                </a:moveTo>
                <a:lnTo>
                  <a:pt x="2215458" y="0"/>
                </a:lnTo>
                <a:lnTo>
                  <a:pt x="2215458" y="1369219"/>
                </a:lnTo>
                <a:lnTo>
                  <a:pt x="0" y="13692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79589" y="8426948"/>
            <a:ext cx="3498647" cy="47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Put Call Ratio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9589" y="8965406"/>
            <a:ext cx="3819820" cy="55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Market sentiment indicator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5149158" y="6746081"/>
            <a:ext cx="2215458" cy="1369219"/>
          </a:xfrm>
          <a:custGeom>
            <a:avLst/>
            <a:gdLst/>
            <a:ahLst/>
            <a:cxnLst/>
            <a:rect r="r" b="b" t="t" l="l"/>
            <a:pathLst>
              <a:path h="1369219" w="2215458">
                <a:moveTo>
                  <a:pt x="0" y="0"/>
                </a:moveTo>
                <a:lnTo>
                  <a:pt x="2215458" y="0"/>
                </a:lnTo>
                <a:lnTo>
                  <a:pt x="2215458" y="1369219"/>
                </a:lnTo>
                <a:lnTo>
                  <a:pt x="0" y="13692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149158" y="8426948"/>
            <a:ext cx="3498647" cy="47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Futures Basis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49158" y="8965406"/>
            <a:ext cx="3819973" cy="55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Spot-futures relationship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3702101" y="444551"/>
            <a:ext cx="7524007" cy="566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74" b="true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Regime Detection &amp; Trading Strategy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02101" y="1421902"/>
            <a:ext cx="2639616" cy="34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Hidden Markov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02101" y="1859309"/>
            <a:ext cx="5231902" cy="35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A 3-state Hidden Markov Model identifies market conditions: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4225233" y="2404167"/>
            <a:ext cx="4185495" cy="4185495"/>
          </a:xfrm>
          <a:custGeom>
            <a:avLst/>
            <a:gdLst/>
            <a:ahLst/>
            <a:cxnLst/>
            <a:rect r="r" b="b" t="t" l="l"/>
            <a:pathLst>
              <a:path h="4185495" w="4185495">
                <a:moveTo>
                  <a:pt x="0" y="0"/>
                </a:moveTo>
                <a:lnTo>
                  <a:pt x="4185494" y="0"/>
                </a:lnTo>
                <a:lnTo>
                  <a:pt x="4185494" y="4185495"/>
                </a:lnTo>
                <a:lnTo>
                  <a:pt x="0" y="41854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 descr="preencoded.png"/>
          <p:cNvSpPr/>
          <p:nvPr/>
        </p:nvSpPr>
        <p:spPr>
          <a:xfrm flipH="false" flipV="false" rot="0">
            <a:off x="4746127" y="4116286"/>
            <a:ext cx="257327" cy="257327"/>
          </a:xfrm>
          <a:custGeom>
            <a:avLst/>
            <a:gdLst/>
            <a:ahLst/>
            <a:cxnLst/>
            <a:rect r="r" b="b" t="t" l="l"/>
            <a:pathLst>
              <a:path h="257327" w="257327">
                <a:moveTo>
                  <a:pt x="0" y="0"/>
                </a:moveTo>
                <a:lnTo>
                  <a:pt x="257327" y="0"/>
                </a:lnTo>
                <a:lnTo>
                  <a:pt x="257327" y="257327"/>
                </a:lnTo>
                <a:lnTo>
                  <a:pt x="0" y="257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928" r="0" b="-8928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3702101" y="6847732"/>
            <a:ext cx="344091" cy="344091"/>
            <a:chOff x="0" y="0"/>
            <a:chExt cx="458788" cy="4587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8851" cy="458851"/>
            </a:xfrm>
            <a:custGeom>
              <a:avLst/>
              <a:gdLst/>
              <a:ahLst/>
              <a:cxnLst/>
              <a:rect r="r" b="b" t="t" l="l"/>
              <a:pathLst>
                <a:path h="458851" w="458851">
                  <a:moveTo>
                    <a:pt x="0" y="206502"/>
                  </a:moveTo>
                  <a:cubicBezTo>
                    <a:pt x="0" y="92456"/>
                    <a:pt x="92456" y="0"/>
                    <a:pt x="206502" y="0"/>
                  </a:cubicBezTo>
                  <a:lnTo>
                    <a:pt x="252349" y="0"/>
                  </a:lnTo>
                  <a:cubicBezTo>
                    <a:pt x="366395" y="0"/>
                    <a:pt x="458851" y="92456"/>
                    <a:pt x="458851" y="206502"/>
                  </a:cubicBezTo>
                  <a:lnTo>
                    <a:pt x="458851" y="252349"/>
                  </a:lnTo>
                  <a:cubicBezTo>
                    <a:pt x="458851" y="366395"/>
                    <a:pt x="366395" y="458851"/>
                    <a:pt x="252349" y="458851"/>
                  </a:cubicBezTo>
                  <a:lnTo>
                    <a:pt x="206502" y="458851"/>
                  </a:lnTo>
                  <a:cubicBezTo>
                    <a:pt x="92456" y="458851"/>
                    <a:pt x="0" y="366395"/>
                    <a:pt x="0" y="252349"/>
                  </a:cubicBezTo>
                  <a:close/>
                </a:path>
              </a:pathLst>
            </a:custGeom>
            <a:solidFill>
              <a:srgbClr val="CEE6F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3766614" y="6912178"/>
            <a:ext cx="215055" cy="215055"/>
          </a:xfrm>
          <a:custGeom>
            <a:avLst/>
            <a:gdLst/>
            <a:ahLst/>
            <a:cxnLst/>
            <a:rect r="r" b="b" t="t" l="l"/>
            <a:pathLst>
              <a:path h="215055" w="215055">
                <a:moveTo>
                  <a:pt x="0" y="0"/>
                </a:moveTo>
                <a:lnTo>
                  <a:pt x="215055" y="0"/>
                </a:lnTo>
                <a:lnTo>
                  <a:pt x="215055" y="215056"/>
                </a:lnTo>
                <a:lnTo>
                  <a:pt x="0" y="215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0868" r="0" b="-10868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218232" y="6866182"/>
            <a:ext cx="2150859" cy="28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Uptrend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18232" y="7249868"/>
            <a:ext cx="4715770" cy="35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Bullish momentum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4225233" y="2404167"/>
            <a:ext cx="4185495" cy="4185495"/>
          </a:xfrm>
          <a:custGeom>
            <a:avLst/>
            <a:gdLst/>
            <a:ahLst/>
            <a:cxnLst/>
            <a:rect r="r" b="b" t="t" l="l"/>
            <a:pathLst>
              <a:path h="4185495" w="4185495">
                <a:moveTo>
                  <a:pt x="0" y="0"/>
                </a:moveTo>
                <a:lnTo>
                  <a:pt x="4185494" y="0"/>
                </a:lnTo>
                <a:lnTo>
                  <a:pt x="4185494" y="4185495"/>
                </a:lnTo>
                <a:lnTo>
                  <a:pt x="0" y="41854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 descr="preencoded.png"/>
          <p:cNvSpPr/>
          <p:nvPr/>
        </p:nvSpPr>
        <p:spPr>
          <a:xfrm flipH="false" flipV="false" rot="0">
            <a:off x="7128872" y="3244301"/>
            <a:ext cx="257327" cy="257327"/>
          </a:xfrm>
          <a:custGeom>
            <a:avLst/>
            <a:gdLst/>
            <a:ahLst/>
            <a:cxnLst/>
            <a:rect r="r" b="b" t="t" l="l"/>
            <a:pathLst>
              <a:path h="257327" w="257327">
                <a:moveTo>
                  <a:pt x="0" y="0"/>
                </a:moveTo>
                <a:lnTo>
                  <a:pt x="257327" y="0"/>
                </a:lnTo>
                <a:lnTo>
                  <a:pt x="257327" y="257327"/>
                </a:lnTo>
                <a:lnTo>
                  <a:pt x="0" y="2573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9643" r="0" b="-1964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3702101" y="7859316"/>
            <a:ext cx="344091" cy="344091"/>
            <a:chOff x="0" y="0"/>
            <a:chExt cx="458788" cy="4587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8851" cy="458851"/>
            </a:xfrm>
            <a:custGeom>
              <a:avLst/>
              <a:gdLst/>
              <a:ahLst/>
              <a:cxnLst/>
              <a:rect r="r" b="b" t="t" l="l"/>
              <a:pathLst>
                <a:path h="458851" w="458851">
                  <a:moveTo>
                    <a:pt x="0" y="206502"/>
                  </a:moveTo>
                  <a:cubicBezTo>
                    <a:pt x="0" y="92456"/>
                    <a:pt x="92456" y="0"/>
                    <a:pt x="206502" y="0"/>
                  </a:cubicBezTo>
                  <a:lnTo>
                    <a:pt x="252349" y="0"/>
                  </a:lnTo>
                  <a:cubicBezTo>
                    <a:pt x="366395" y="0"/>
                    <a:pt x="458851" y="92456"/>
                    <a:pt x="458851" y="206502"/>
                  </a:cubicBezTo>
                  <a:lnTo>
                    <a:pt x="458851" y="252349"/>
                  </a:lnTo>
                  <a:cubicBezTo>
                    <a:pt x="458851" y="366395"/>
                    <a:pt x="366395" y="458851"/>
                    <a:pt x="252349" y="458851"/>
                  </a:cubicBezTo>
                  <a:lnTo>
                    <a:pt x="206502" y="458851"/>
                  </a:lnTo>
                  <a:cubicBezTo>
                    <a:pt x="92456" y="458851"/>
                    <a:pt x="0" y="366395"/>
                    <a:pt x="0" y="252349"/>
                  </a:cubicBezTo>
                  <a:close/>
                </a:path>
              </a:pathLst>
            </a:custGeom>
            <a:solidFill>
              <a:srgbClr val="CEE6F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3766614" y="7923762"/>
            <a:ext cx="215055" cy="215055"/>
          </a:xfrm>
          <a:custGeom>
            <a:avLst/>
            <a:gdLst/>
            <a:ahLst/>
            <a:cxnLst/>
            <a:rect r="r" b="b" t="t" l="l"/>
            <a:pathLst>
              <a:path h="215055" w="215055">
                <a:moveTo>
                  <a:pt x="0" y="0"/>
                </a:moveTo>
                <a:lnTo>
                  <a:pt x="215055" y="0"/>
                </a:lnTo>
                <a:lnTo>
                  <a:pt x="215055" y="215055"/>
                </a:lnTo>
                <a:lnTo>
                  <a:pt x="0" y="2150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1737" r="0" b="-21742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218232" y="7877766"/>
            <a:ext cx="2150859" cy="28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Sideways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18232" y="8261452"/>
            <a:ext cx="4715770" cy="35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Range-bound market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4225233" y="2404167"/>
            <a:ext cx="4185495" cy="4185495"/>
          </a:xfrm>
          <a:custGeom>
            <a:avLst/>
            <a:gdLst/>
            <a:ahLst/>
            <a:cxnLst/>
            <a:rect r="r" b="b" t="t" l="l"/>
            <a:pathLst>
              <a:path h="4185495" w="4185495">
                <a:moveTo>
                  <a:pt x="0" y="0"/>
                </a:moveTo>
                <a:lnTo>
                  <a:pt x="4185494" y="0"/>
                </a:lnTo>
                <a:lnTo>
                  <a:pt x="4185494" y="4185495"/>
                </a:lnTo>
                <a:lnTo>
                  <a:pt x="0" y="41854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4" id="24" descr="preencoded.png"/>
          <p:cNvSpPr/>
          <p:nvPr/>
        </p:nvSpPr>
        <p:spPr>
          <a:xfrm flipH="false" flipV="false" rot="0">
            <a:off x="6692656" y="5743870"/>
            <a:ext cx="257327" cy="257327"/>
          </a:xfrm>
          <a:custGeom>
            <a:avLst/>
            <a:gdLst/>
            <a:ahLst/>
            <a:cxnLst/>
            <a:rect r="r" b="b" t="t" l="l"/>
            <a:pathLst>
              <a:path h="257327" w="257327">
                <a:moveTo>
                  <a:pt x="0" y="0"/>
                </a:moveTo>
                <a:lnTo>
                  <a:pt x="257327" y="0"/>
                </a:lnTo>
                <a:lnTo>
                  <a:pt x="257327" y="257328"/>
                </a:lnTo>
                <a:lnTo>
                  <a:pt x="0" y="2573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7856" r="0" b="-17856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3702101" y="8870899"/>
            <a:ext cx="344091" cy="344091"/>
            <a:chOff x="0" y="0"/>
            <a:chExt cx="458788" cy="4587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8851" cy="458851"/>
            </a:xfrm>
            <a:custGeom>
              <a:avLst/>
              <a:gdLst/>
              <a:ahLst/>
              <a:cxnLst/>
              <a:rect r="r" b="b" t="t" l="l"/>
              <a:pathLst>
                <a:path h="458851" w="458851">
                  <a:moveTo>
                    <a:pt x="0" y="206502"/>
                  </a:moveTo>
                  <a:cubicBezTo>
                    <a:pt x="0" y="92456"/>
                    <a:pt x="92456" y="0"/>
                    <a:pt x="206502" y="0"/>
                  </a:cubicBezTo>
                  <a:lnTo>
                    <a:pt x="252349" y="0"/>
                  </a:lnTo>
                  <a:cubicBezTo>
                    <a:pt x="366395" y="0"/>
                    <a:pt x="458851" y="92456"/>
                    <a:pt x="458851" y="206502"/>
                  </a:cubicBezTo>
                  <a:lnTo>
                    <a:pt x="458851" y="252349"/>
                  </a:lnTo>
                  <a:cubicBezTo>
                    <a:pt x="458851" y="366395"/>
                    <a:pt x="366395" y="458851"/>
                    <a:pt x="252349" y="458851"/>
                  </a:cubicBezTo>
                  <a:lnTo>
                    <a:pt x="206502" y="458851"/>
                  </a:lnTo>
                  <a:cubicBezTo>
                    <a:pt x="92456" y="458851"/>
                    <a:pt x="0" y="366395"/>
                    <a:pt x="0" y="252349"/>
                  </a:cubicBezTo>
                  <a:close/>
                </a:path>
              </a:pathLst>
            </a:custGeom>
            <a:solidFill>
              <a:srgbClr val="CEE6F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7" id="27" descr="preencoded.png"/>
          <p:cNvSpPr/>
          <p:nvPr/>
        </p:nvSpPr>
        <p:spPr>
          <a:xfrm flipH="false" flipV="false" rot="0">
            <a:off x="3766614" y="8935345"/>
            <a:ext cx="215055" cy="215055"/>
          </a:xfrm>
          <a:custGeom>
            <a:avLst/>
            <a:gdLst/>
            <a:ahLst/>
            <a:cxnLst/>
            <a:rect r="r" b="b" t="t" l="l"/>
            <a:pathLst>
              <a:path h="215055" w="215055">
                <a:moveTo>
                  <a:pt x="0" y="0"/>
                </a:moveTo>
                <a:lnTo>
                  <a:pt x="215055" y="0"/>
                </a:lnTo>
                <a:lnTo>
                  <a:pt x="215055" y="215056"/>
                </a:lnTo>
                <a:lnTo>
                  <a:pt x="0" y="2150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9563" r="0" b="-19567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4218232" y="8889359"/>
            <a:ext cx="2150859" cy="28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Downtrend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18232" y="9273035"/>
            <a:ext cx="4715770" cy="35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Bearish momentum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363227" y="1421902"/>
            <a:ext cx="2581123" cy="34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Strategy Rules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53702" y="1947415"/>
            <a:ext cx="5250952" cy="1392441"/>
            <a:chOff x="0" y="0"/>
            <a:chExt cx="7001269" cy="18565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2700" y="12700"/>
              <a:ext cx="6975856" cy="1831213"/>
            </a:xfrm>
            <a:custGeom>
              <a:avLst/>
              <a:gdLst/>
              <a:ahLst/>
              <a:cxnLst/>
              <a:rect r="r" b="b" t="t" l="l"/>
              <a:pathLst>
                <a:path h="1831213" w="6975856">
                  <a:moveTo>
                    <a:pt x="0" y="121920"/>
                  </a:moveTo>
                  <a:cubicBezTo>
                    <a:pt x="0" y="54610"/>
                    <a:pt x="55118" y="0"/>
                    <a:pt x="123190" y="0"/>
                  </a:cubicBezTo>
                  <a:lnTo>
                    <a:pt x="6852666" y="0"/>
                  </a:lnTo>
                  <a:cubicBezTo>
                    <a:pt x="6920738" y="0"/>
                    <a:pt x="6975856" y="54610"/>
                    <a:pt x="6975856" y="121920"/>
                  </a:cubicBezTo>
                  <a:lnTo>
                    <a:pt x="6975856" y="1709293"/>
                  </a:lnTo>
                  <a:cubicBezTo>
                    <a:pt x="6975856" y="1776603"/>
                    <a:pt x="6920738" y="1831213"/>
                    <a:pt x="6852666" y="1831213"/>
                  </a:cubicBezTo>
                  <a:lnTo>
                    <a:pt x="123190" y="1831213"/>
                  </a:lnTo>
                  <a:cubicBezTo>
                    <a:pt x="55118" y="1831213"/>
                    <a:pt x="0" y="1776603"/>
                    <a:pt x="0" y="1709293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01256" cy="1856613"/>
            </a:xfrm>
            <a:custGeom>
              <a:avLst/>
              <a:gdLst/>
              <a:ahLst/>
              <a:cxnLst/>
              <a:rect r="r" b="b" t="t" l="l"/>
              <a:pathLst>
                <a:path h="1856613" w="7001256">
                  <a:moveTo>
                    <a:pt x="0" y="134620"/>
                  </a:moveTo>
                  <a:cubicBezTo>
                    <a:pt x="0" y="60198"/>
                    <a:pt x="60960" y="0"/>
                    <a:pt x="135890" y="0"/>
                  </a:cubicBezTo>
                  <a:lnTo>
                    <a:pt x="6865366" y="0"/>
                  </a:lnTo>
                  <a:lnTo>
                    <a:pt x="6865366" y="12700"/>
                  </a:lnTo>
                  <a:lnTo>
                    <a:pt x="6865366" y="0"/>
                  </a:lnTo>
                  <a:cubicBezTo>
                    <a:pt x="6940297" y="0"/>
                    <a:pt x="7001256" y="60198"/>
                    <a:pt x="7001256" y="134620"/>
                  </a:cubicBezTo>
                  <a:lnTo>
                    <a:pt x="6988556" y="134620"/>
                  </a:lnTo>
                  <a:lnTo>
                    <a:pt x="7001256" y="134620"/>
                  </a:lnTo>
                  <a:lnTo>
                    <a:pt x="7001256" y="1721993"/>
                  </a:lnTo>
                  <a:lnTo>
                    <a:pt x="6988556" y="1721993"/>
                  </a:lnTo>
                  <a:lnTo>
                    <a:pt x="7001256" y="1721993"/>
                  </a:lnTo>
                  <a:cubicBezTo>
                    <a:pt x="7001256" y="1796415"/>
                    <a:pt x="6940297" y="1856613"/>
                    <a:pt x="6865366" y="1856613"/>
                  </a:cubicBezTo>
                  <a:lnTo>
                    <a:pt x="6865366" y="1843913"/>
                  </a:lnTo>
                  <a:lnTo>
                    <a:pt x="6865366" y="1856613"/>
                  </a:lnTo>
                  <a:lnTo>
                    <a:pt x="135890" y="1856613"/>
                  </a:lnTo>
                  <a:lnTo>
                    <a:pt x="135890" y="1843913"/>
                  </a:lnTo>
                  <a:lnTo>
                    <a:pt x="135890" y="1856613"/>
                  </a:lnTo>
                  <a:cubicBezTo>
                    <a:pt x="60960" y="1856613"/>
                    <a:pt x="0" y="1796415"/>
                    <a:pt x="0" y="1721993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721993"/>
                  </a:lnTo>
                  <a:lnTo>
                    <a:pt x="12700" y="1721993"/>
                  </a:lnTo>
                  <a:lnTo>
                    <a:pt x="25400" y="1721993"/>
                  </a:lnTo>
                  <a:cubicBezTo>
                    <a:pt x="25400" y="1782191"/>
                    <a:pt x="74676" y="1831213"/>
                    <a:pt x="135890" y="1831213"/>
                  </a:cubicBezTo>
                  <a:lnTo>
                    <a:pt x="6865366" y="1831213"/>
                  </a:lnTo>
                  <a:cubicBezTo>
                    <a:pt x="6926453" y="1831213"/>
                    <a:pt x="6975856" y="1782191"/>
                    <a:pt x="6975856" y="1721993"/>
                  </a:cubicBezTo>
                  <a:lnTo>
                    <a:pt x="6975856" y="134620"/>
                  </a:lnTo>
                  <a:cubicBezTo>
                    <a:pt x="6975856" y="74422"/>
                    <a:pt x="6926580" y="25400"/>
                    <a:pt x="6865366" y="25400"/>
                  </a:cubicBezTo>
                  <a:lnTo>
                    <a:pt x="135890" y="25400"/>
                  </a:lnTo>
                  <a:lnTo>
                    <a:pt x="135890" y="12700"/>
                  </a:lnTo>
                  <a:lnTo>
                    <a:pt x="135890" y="25400"/>
                  </a:lnTo>
                  <a:cubicBezTo>
                    <a:pt x="74676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B4CC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344177" y="1956940"/>
            <a:ext cx="76200" cy="1373391"/>
            <a:chOff x="0" y="0"/>
            <a:chExt cx="101600" cy="18311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1600" cy="1831213"/>
            </a:xfrm>
            <a:custGeom>
              <a:avLst/>
              <a:gdLst/>
              <a:ahLst/>
              <a:cxnLst/>
              <a:rect r="r" b="b" t="t" l="l"/>
              <a:pathLst>
                <a:path h="1831213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780413"/>
                  </a:lnTo>
                  <a:cubicBezTo>
                    <a:pt x="101600" y="1808480"/>
                    <a:pt x="78867" y="1831213"/>
                    <a:pt x="50800" y="1831213"/>
                  </a:cubicBezTo>
                  <a:cubicBezTo>
                    <a:pt x="22733" y="1831213"/>
                    <a:pt x="0" y="1808480"/>
                    <a:pt x="0" y="1780413"/>
                  </a:cubicBez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9611468" y="2128990"/>
            <a:ext cx="2150859" cy="28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EMA Crossover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11468" y="2512666"/>
            <a:ext cx="4792561" cy="626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Primary signal generation using exponential moving averages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353702" y="3492846"/>
            <a:ext cx="5250952" cy="1117254"/>
            <a:chOff x="0" y="0"/>
            <a:chExt cx="7001269" cy="14896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2700" y="12700"/>
              <a:ext cx="6975856" cy="1464310"/>
            </a:xfrm>
            <a:custGeom>
              <a:avLst/>
              <a:gdLst/>
              <a:ahLst/>
              <a:cxnLst/>
              <a:rect r="r" b="b" t="t" l="l"/>
              <a:pathLst>
                <a:path h="1464310" w="6975856">
                  <a:moveTo>
                    <a:pt x="0" y="121920"/>
                  </a:moveTo>
                  <a:cubicBezTo>
                    <a:pt x="0" y="54610"/>
                    <a:pt x="55372" y="0"/>
                    <a:pt x="123571" y="0"/>
                  </a:cubicBezTo>
                  <a:lnTo>
                    <a:pt x="6852285" y="0"/>
                  </a:lnTo>
                  <a:cubicBezTo>
                    <a:pt x="6920484" y="0"/>
                    <a:pt x="6975856" y="54610"/>
                    <a:pt x="6975856" y="121920"/>
                  </a:cubicBezTo>
                  <a:lnTo>
                    <a:pt x="6975856" y="1342390"/>
                  </a:lnTo>
                  <a:cubicBezTo>
                    <a:pt x="6975856" y="1409700"/>
                    <a:pt x="6920484" y="1464310"/>
                    <a:pt x="6852285" y="1464310"/>
                  </a:cubicBezTo>
                  <a:lnTo>
                    <a:pt x="123571" y="1464310"/>
                  </a:lnTo>
                  <a:cubicBezTo>
                    <a:pt x="55372" y="1464310"/>
                    <a:pt x="0" y="1409700"/>
                    <a:pt x="0" y="134239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001256" cy="1489710"/>
            </a:xfrm>
            <a:custGeom>
              <a:avLst/>
              <a:gdLst/>
              <a:ahLst/>
              <a:cxnLst/>
              <a:rect r="r" b="b" t="t" l="l"/>
              <a:pathLst>
                <a:path h="1489710" w="7001256">
                  <a:moveTo>
                    <a:pt x="0" y="134620"/>
                  </a:moveTo>
                  <a:cubicBezTo>
                    <a:pt x="0" y="60071"/>
                    <a:pt x="61214" y="0"/>
                    <a:pt x="136271" y="0"/>
                  </a:cubicBezTo>
                  <a:lnTo>
                    <a:pt x="6864985" y="0"/>
                  </a:lnTo>
                  <a:lnTo>
                    <a:pt x="6864985" y="12700"/>
                  </a:lnTo>
                  <a:lnTo>
                    <a:pt x="6864985" y="0"/>
                  </a:lnTo>
                  <a:cubicBezTo>
                    <a:pt x="6940042" y="0"/>
                    <a:pt x="7001256" y="60071"/>
                    <a:pt x="7001256" y="134620"/>
                  </a:cubicBezTo>
                  <a:lnTo>
                    <a:pt x="6988556" y="134620"/>
                  </a:lnTo>
                  <a:lnTo>
                    <a:pt x="7001256" y="134620"/>
                  </a:lnTo>
                  <a:lnTo>
                    <a:pt x="7001256" y="1355090"/>
                  </a:lnTo>
                  <a:lnTo>
                    <a:pt x="6988556" y="1355090"/>
                  </a:lnTo>
                  <a:lnTo>
                    <a:pt x="7001256" y="1355090"/>
                  </a:lnTo>
                  <a:cubicBezTo>
                    <a:pt x="7001256" y="1429639"/>
                    <a:pt x="6940042" y="1489710"/>
                    <a:pt x="6864985" y="1489710"/>
                  </a:cubicBezTo>
                  <a:lnTo>
                    <a:pt x="6864985" y="1477010"/>
                  </a:lnTo>
                  <a:lnTo>
                    <a:pt x="6864985" y="1489710"/>
                  </a:lnTo>
                  <a:lnTo>
                    <a:pt x="136271" y="1489710"/>
                  </a:lnTo>
                  <a:lnTo>
                    <a:pt x="136271" y="1477010"/>
                  </a:lnTo>
                  <a:lnTo>
                    <a:pt x="136271" y="1489710"/>
                  </a:lnTo>
                  <a:cubicBezTo>
                    <a:pt x="61214" y="1489710"/>
                    <a:pt x="0" y="1429512"/>
                    <a:pt x="0" y="1355090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355090"/>
                  </a:lnTo>
                  <a:lnTo>
                    <a:pt x="12700" y="1355090"/>
                  </a:lnTo>
                  <a:lnTo>
                    <a:pt x="25400" y="1355090"/>
                  </a:lnTo>
                  <a:cubicBezTo>
                    <a:pt x="25400" y="1415288"/>
                    <a:pt x="74930" y="1464310"/>
                    <a:pt x="136271" y="1464310"/>
                  </a:cubicBezTo>
                  <a:lnTo>
                    <a:pt x="6864985" y="1464310"/>
                  </a:lnTo>
                  <a:cubicBezTo>
                    <a:pt x="6926326" y="1464310"/>
                    <a:pt x="6975856" y="1415288"/>
                    <a:pt x="6975856" y="1355090"/>
                  </a:cubicBezTo>
                  <a:lnTo>
                    <a:pt x="6975856" y="134620"/>
                  </a:lnTo>
                  <a:cubicBezTo>
                    <a:pt x="6975856" y="74422"/>
                    <a:pt x="6926326" y="25400"/>
                    <a:pt x="6864985" y="25400"/>
                  </a:cubicBezTo>
                  <a:lnTo>
                    <a:pt x="136271" y="25400"/>
                  </a:lnTo>
                  <a:lnTo>
                    <a:pt x="136271" y="12700"/>
                  </a:lnTo>
                  <a:lnTo>
                    <a:pt x="136271" y="25400"/>
                  </a:lnTo>
                  <a:cubicBezTo>
                    <a:pt x="74930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B4CC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344177" y="3502371"/>
            <a:ext cx="76200" cy="1098204"/>
            <a:chOff x="0" y="0"/>
            <a:chExt cx="101600" cy="146427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1600" cy="1464310"/>
            </a:xfrm>
            <a:custGeom>
              <a:avLst/>
              <a:gdLst/>
              <a:ahLst/>
              <a:cxnLst/>
              <a:rect r="r" b="b" t="t" l="l"/>
              <a:pathLst>
                <a:path h="1464310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413510"/>
                  </a:lnTo>
                  <a:cubicBezTo>
                    <a:pt x="101600" y="1441577"/>
                    <a:pt x="78867" y="1464310"/>
                    <a:pt x="50800" y="1464310"/>
                  </a:cubicBezTo>
                  <a:cubicBezTo>
                    <a:pt x="22733" y="1464310"/>
                    <a:pt x="0" y="1441577"/>
                    <a:pt x="0" y="1413510"/>
                  </a:cubicBez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9611468" y="3674421"/>
            <a:ext cx="2150859" cy="28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Regime Filter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611468" y="4058098"/>
            <a:ext cx="4792561" cy="35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Trade only during uptrend or downtrend regimes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353702" y="4763091"/>
            <a:ext cx="5250952" cy="1117254"/>
            <a:chOff x="0" y="0"/>
            <a:chExt cx="7001269" cy="14896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2700" y="12700"/>
              <a:ext cx="6975856" cy="1464310"/>
            </a:xfrm>
            <a:custGeom>
              <a:avLst/>
              <a:gdLst/>
              <a:ahLst/>
              <a:cxnLst/>
              <a:rect r="r" b="b" t="t" l="l"/>
              <a:pathLst>
                <a:path h="1464310" w="6975856">
                  <a:moveTo>
                    <a:pt x="0" y="121920"/>
                  </a:moveTo>
                  <a:cubicBezTo>
                    <a:pt x="0" y="54610"/>
                    <a:pt x="55372" y="0"/>
                    <a:pt x="123571" y="0"/>
                  </a:cubicBezTo>
                  <a:lnTo>
                    <a:pt x="6852285" y="0"/>
                  </a:lnTo>
                  <a:cubicBezTo>
                    <a:pt x="6920484" y="0"/>
                    <a:pt x="6975856" y="54610"/>
                    <a:pt x="6975856" y="121920"/>
                  </a:cubicBezTo>
                  <a:lnTo>
                    <a:pt x="6975856" y="1342390"/>
                  </a:lnTo>
                  <a:cubicBezTo>
                    <a:pt x="6975856" y="1409700"/>
                    <a:pt x="6920484" y="1464310"/>
                    <a:pt x="6852285" y="1464310"/>
                  </a:cubicBezTo>
                  <a:lnTo>
                    <a:pt x="123571" y="1464310"/>
                  </a:lnTo>
                  <a:cubicBezTo>
                    <a:pt x="55372" y="1464310"/>
                    <a:pt x="0" y="1409700"/>
                    <a:pt x="0" y="134239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001256" cy="1489710"/>
            </a:xfrm>
            <a:custGeom>
              <a:avLst/>
              <a:gdLst/>
              <a:ahLst/>
              <a:cxnLst/>
              <a:rect r="r" b="b" t="t" l="l"/>
              <a:pathLst>
                <a:path h="1489710" w="7001256">
                  <a:moveTo>
                    <a:pt x="0" y="134620"/>
                  </a:moveTo>
                  <a:cubicBezTo>
                    <a:pt x="0" y="60071"/>
                    <a:pt x="61214" y="0"/>
                    <a:pt x="136271" y="0"/>
                  </a:cubicBezTo>
                  <a:lnTo>
                    <a:pt x="6864985" y="0"/>
                  </a:lnTo>
                  <a:lnTo>
                    <a:pt x="6864985" y="12700"/>
                  </a:lnTo>
                  <a:lnTo>
                    <a:pt x="6864985" y="0"/>
                  </a:lnTo>
                  <a:cubicBezTo>
                    <a:pt x="6940042" y="0"/>
                    <a:pt x="7001256" y="60071"/>
                    <a:pt x="7001256" y="134620"/>
                  </a:cubicBezTo>
                  <a:lnTo>
                    <a:pt x="6988556" y="134620"/>
                  </a:lnTo>
                  <a:lnTo>
                    <a:pt x="7001256" y="134620"/>
                  </a:lnTo>
                  <a:lnTo>
                    <a:pt x="7001256" y="1355090"/>
                  </a:lnTo>
                  <a:lnTo>
                    <a:pt x="6988556" y="1355090"/>
                  </a:lnTo>
                  <a:lnTo>
                    <a:pt x="7001256" y="1355090"/>
                  </a:lnTo>
                  <a:cubicBezTo>
                    <a:pt x="7001256" y="1429639"/>
                    <a:pt x="6940042" y="1489710"/>
                    <a:pt x="6864985" y="1489710"/>
                  </a:cubicBezTo>
                  <a:lnTo>
                    <a:pt x="6864985" y="1477010"/>
                  </a:lnTo>
                  <a:lnTo>
                    <a:pt x="6864985" y="1489710"/>
                  </a:lnTo>
                  <a:lnTo>
                    <a:pt x="136271" y="1489710"/>
                  </a:lnTo>
                  <a:lnTo>
                    <a:pt x="136271" y="1477010"/>
                  </a:lnTo>
                  <a:lnTo>
                    <a:pt x="136271" y="1489710"/>
                  </a:lnTo>
                  <a:cubicBezTo>
                    <a:pt x="61214" y="1489710"/>
                    <a:pt x="0" y="1429512"/>
                    <a:pt x="0" y="1355090"/>
                  </a:cubicBezTo>
                  <a:lnTo>
                    <a:pt x="0" y="134620"/>
                  </a:lnTo>
                  <a:lnTo>
                    <a:pt x="12700" y="134620"/>
                  </a:lnTo>
                  <a:lnTo>
                    <a:pt x="0" y="134620"/>
                  </a:lnTo>
                  <a:moveTo>
                    <a:pt x="25400" y="134620"/>
                  </a:moveTo>
                  <a:lnTo>
                    <a:pt x="25400" y="1355090"/>
                  </a:lnTo>
                  <a:lnTo>
                    <a:pt x="12700" y="1355090"/>
                  </a:lnTo>
                  <a:lnTo>
                    <a:pt x="25400" y="1355090"/>
                  </a:lnTo>
                  <a:cubicBezTo>
                    <a:pt x="25400" y="1415288"/>
                    <a:pt x="74930" y="1464310"/>
                    <a:pt x="136271" y="1464310"/>
                  </a:cubicBezTo>
                  <a:lnTo>
                    <a:pt x="6864985" y="1464310"/>
                  </a:lnTo>
                  <a:cubicBezTo>
                    <a:pt x="6926326" y="1464310"/>
                    <a:pt x="6975856" y="1415288"/>
                    <a:pt x="6975856" y="1355090"/>
                  </a:cubicBezTo>
                  <a:lnTo>
                    <a:pt x="6975856" y="134620"/>
                  </a:lnTo>
                  <a:cubicBezTo>
                    <a:pt x="6975856" y="74422"/>
                    <a:pt x="6926326" y="25400"/>
                    <a:pt x="6864985" y="25400"/>
                  </a:cubicBezTo>
                  <a:lnTo>
                    <a:pt x="136271" y="25400"/>
                  </a:lnTo>
                  <a:lnTo>
                    <a:pt x="136271" y="12700"/>
                  </a:lnTo>
                  <a:lnTo>
                    <a:pt x="136271" y="25400"/>
                  </a:lnTo>
                  <a:cubicBezTo>
                    <a:pt x="74930" y="25400"/>
                    <a:pt x="25400" y="74422"/>
                    <a:pt x="25400" y="134620"/>
                  </a:cubicBezTo>
                  <a:close/>
                </a:path>
              </a:pathLst>
            </a:custGeom>
            <a:solidFill>
              <a:srgbClr val="B4CCE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344177" y="4772616"/>
            <a:ext cx="76200" cy="1098204"/>
            <a:chOff x="0" y="0"/>
            <a:chExt cx="101600" cy="14642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1600" cy="1464310"/>
            </a:xfrm>
            <a:custGeom>
              <a:avLst/>
              <a:gdLst/>
              <a:ahLst/>
              <a:cxnLst/>
              <a:rect r="r" b="b" t="t" l="l"/>
              <a:pathLst>
                <a:path h="1464310" w="101600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cubicBezTo>
                    <a:pt x="78867" y="0"/>
                    <a:pt x="101600" y="22733"/>
                    <a:pt x="101600" y="50800"/>
                  </a:cubicBezTo>
                  <a:lnTo>
                    <a:pt x="101600" y="1413510"/>
                  </a:lnTo>
                  <a:cubicBezTo>
                    <a:pt x="101600" y="1441577"/>
                    <a:pt x="78867" y="1464310"/>
                    <a:pt x="50800" y="1464310"/>
                  </a:cubicBezTo>
                  <a:cubicBezTo>
                    <a:pt x="22733" y="1464310"/>
                    <a:pt x="0" y="1441577"/>
                    <a:pt x="0" y="1413510"/>
                  </a:cubicBez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50" id="50"/>
          <p:cNvSpPr txBox="true"/>
          <p:nvPr/>
        </p:nvSpPr>
        <p:spPr>
          <a:xfrm rot="0">
            <a:off x="9611468" y="4944666"/>
            <a:ext cx="2150859" cy="287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Sideways Exclusion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611468" y="5328342"/>
            <a:ext cx="4792561" cy="351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5"/>
              </a:lnSpc>
            </a:pPr>
            <a:r>
              <a:rPr lang="en-US" sz="1312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No trades executed in sideways markets to avoid whipsaws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18288000" cy="3039961"/>
          </a:xfrm>
          <a:custGeom>
            <a:avLst/>
            <a:gdLst/>
            <a:ahLst/>
            <a:cxnLst/>
            <a:rect r="r" b="b" t="t" l="l"/>
            <a:pathLst>
              <a:path h="3039961" w="18288000">
                <a:moveTo>
                  <a:pt x="0" y="0"/>
                </a:moveTo>
                <a:lnTo>
                  <a:pt x="18288000" y="0"/>
                </a:lnTo>
                <a:lnTo>
                  <a:pt x="18288000" y="3039961"/>
                </a:lnTo>
                <a:lnTo>
                  <a:pt x="0" y="30399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" t="0" r="-24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818684" y="3532289"/>
            <a:ext cx="2395985" cy="435178"/>
            <a:chOff x="0" y="0"/>
            <a:chExt cx="3194647" cy="5802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94685" cy="580263"/>
            </a:xfrm>
            <a:custGeom>
              <a:avLst/>
              <a:gdLst/>
              <a:ahLst/>
              <a:cxnLst/>
              <a:rect r="r" b="b" t="t" l="l"/>
              <a:pathLst>
                <a:path h="580263" w="3194685">
                  <a:moveTo>
                    <a:pt x="0" y="222377"/>
                  </a:moveTo>
                  <a:cubicBezTo>
                    <a:pt x="0" y="99568"/>
                    <a:pt x="99568" y="0"/>
                    <a:pt x="222377" y="0"/>
                  </a:cubicBezTo>
                  <a:lnTo>
                    <a:pt x="2972308" y="0"/>
                  </a:lnTo>
                  <a:cubicBezTo>
                    <a:pt x="3095117" y="0"/>
                    <a:pt x="3194685" y="99568"/>
                    <a:pt x="3194685" y="222377"/>
                  </a:cubicBezTo>
                  <a:lnTo>
                    <a:pt x="3194685" y="357886"/>
                  </a:lnTo>
                  <a:cubicBezTo>
                    <a:pt x="3194685" y="480695"/>
                    <a:pt x="3095117" y="580263"/>
                    <a:pt x="2972308" y="580263"/>
                  </a:cubicBezTo>
                  <a:lnTo>
                    <a:pt x="222377" y="580263"/>
                  </a:lnTo>
                  <a:cubicBezTo>
                    <a:pt x="99568" y="580263"/>
                    <a:pt x="0" y="480695"/>
                    <a:pt x="0" y="357886"/>
                  </a:cubicBezTo>
                  <a:close/>
                </a:path>
              </a:pathLst>
            </a:custGeom>
            <a:solidFill>
              <a:srgbClr val="CEE6F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1957540" y="3657152"/>
            <a:ext cx="185290" cy="185290"/>
          </a:xfrm>
          <a:custGeom>
            <a:avLst/>
            <a:gdLst/>
            <a:ahLst/>
            <a:cxnLst/>
            <a:rect r="r" b="b" t="t" l="l"/>
            <a:pathLst>
              <a:path h="185290" w="185290">
                <a:moveTo>
                  <a:pt x="0" y="0"/>
                </a:moveTo>
                <a:lnTo>
                  <a:pt x="185290" y="0"/>
                </a:lnTo>
                <a:lnTo>
                  <a:pt x="185290" y="185290"/>
                </a:lnTo>
                <a:lnTo>
                  <a:pt x="0" y="1852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235403" y="3534966"/>
            <a:ext cx="1840411" cy="363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MACHINE LEARNING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18684" y="4012406"/>
            <a:ext cx="6447082" cy="771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7"/>
              </a:lnSpc>
            </a:pPr>
            <a:r>
              <a:rPr lang="en-US" sz="4499" b="true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XGBoost Trade Filtering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1818684" y="5131146"/>
            <a:ext cx="7325316" cy="926459"/>
          </a:xfrm>
          <a:custGeom>
            <a:avLst/>
            <a:gdLst/>
            <a:ahLst/>
            <a:cxnLst/>
            <a:rect r="r" b="b" t="t" l="l"/>
            <a:pathLst>
              <a:path h="926459" w="7325316">
                <a:moveTo>
                  <a:pt x="0" y="0"/>
                </a:moveTo>
                <a:lnTo>
                  <a:pt x="7325316" y="0"/>
                </a:lnTo>
                <a:lnTo>
                  <a:pt x="7325316" y="926459"/>
                </a:lnTo>
                <a:lnTo>
                  <a:pt x="0" y="9264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2" t="0" r="-132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050256" y="6260602"/>
            <a:ext cx="2895305" cy="390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Signal Generation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50256" y="6704114"/>
            <a:ext cx="6862172" cy="45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EMA crossover creates initial trade signals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9144000" y="5131146"/>
            <a:ext cx="7325316" cy="926459"/>
          </a:xfrm>
          <a:custGeom>
            <a:avLst/>
            <a:gdLst/>
            <a:ahLst/>
            <a:cxnLst/>
            <a:rect r="r" b="b" t="t" l="l"/>
            <a:pathLst>
              <a:path h="926459" w="7325316">
                <a:moveTo>
                  <a:pt x="0" y="0"/>
                </a:moveTo>
                <a:lnTo>
                  <a:pt x="7325316" y="0"/>
                </a:lnTo>
                <a:lnTo>
                  <a:pt x="7325316" y="926459"/>
                </a:lnTo>
                <a:lnTo>
                  <a:pt x="0" y="9264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2" t="0" r="-132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375572" y="6260602"/>
            <a:ext cx="2895305" cy="390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ML Prediction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75572" y="6704114"/>
            <a:ext cx="6862172" cy="45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XGBoost classifier predicts trade profitability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1818684" y="7391848"/>
            <a:ext cx="7325316" cy="926459"/>
          </a:xfrm>
          <a:custGeom>
            <a:avLst/>
            <a:gdLst/>
            <a:ahLst/>
            <a:cxnLst/>
            <a:rect r="r" b="b" t="t" l="l"/>
            <a:pathLst>
              <a:path h="926459" w="7325316">
                <a:moveTo>
                  <a:pt x="0" y="0"/>
                </a:moveTo>
                <a:lnTo>
                  <a:pt x="7325316" y="0"/>
                </a:lnTo>
                <a:lnTo>
                  <a:pt x="7325316" y="926458"/>
                </a:lnTo>
                <a:lnTo>
                  <a:pt x="0" y="9264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32" t="0" r="-132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050256" y="8521303"/>
            <a:ext cx="2895305" cy="390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Signal Filtering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50256" y="8964816"/>
            <a:ext cx="6862172" cy="45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Only high-probability trades are executed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9144000" y="7391848"/>
            <a:ext cx="7325316" cy="926459"/>
          </a:xfrm>
          <a:custGeom>
            <a:avLst/>
            <a:gdLst/>
            <a:ahLst/>
            <a:cxnLst/>
            <a:rect r="r" b="b" t="t" l="l"/>
            <a:pathLst>
              <a:path h="926459" w="7325316">
                <a:moveTo>
                  <a:pt x="0" y="0"/>
                </a:moveTo>
                <a:lnTo>
                  <a:pt x="7325316" y="0"/>
                </a:lnTo>
                <a:lnTo>
                  <a:pt x="7325316" y="926458"/>
                </a:lnTo>
                <a:lnTo>
                  <a:pt x="0" y="9264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32" t="0" r="-132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375572" y="8521303"/>
            <a:ext cx="2895305" cy="390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Enhanced Results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75572" y="8964816"/>
            <a:ext cx="6862172" cy="45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Improved win rate and reduced losses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EE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7200900" cy="10287000"/>
          </a:xfrm>
          <a:custGeom>
            <a:avLst/>
            <a:gdLst/>
            <a:ahLst/>
            <a:cxnLst/>
            <a:rect r="r" b="b" t="t" l="l"/>
            <a:pathLst>
              <a:path h="10287000" w="72009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50238" y="1269654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091C53"/>
                </a:solidFill>
                <a:latin typeface="Arimo Bold"/>
                <a:ea typeface="Arimo Bold"/>
                <a:cs typeface="Arimo Bold"/>
                <a:sym typeface="Arimo Bold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75434" y="2852147"/>
            <a:ext cx="9020327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This project demonstrates that regime awareness and machine learning can significantly improve trading performance.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50238" y="2637977"/>
            <a:ext cx="38100" cy="1545136"/>
            <a:chOff x="0" y="0"/>
            <a:chExt cx="50800" cy="20601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" cy="2060194"/>
            </a:xfrm>
            <a:custGeom>
              <a:avLst/>
              <a:gdLst/>
              <a:ahLst/>
              <a:cxnLst/>
              <a:rect r="r" b="b" t="t" l="l"/>
              <a:pathLst>
                <a:path h="2060194" w="50800">
                  <a:moveTo>
                    <a:pt x="0" y="0"/>
                  </a:moveTo>
                  <a:lnTo>
                    <a:pt x="50800" y="0"/>
                  </a:lnTo>
                  <a:lnTo>
                    <a:pt x="50800" y="2060194"/>
                  </a:lnTo>
                  <a:lnTo>
                    <a:pt x="0" y="2060194"/>
                  </a:lnTo>
                  <a:close/>
                </a:path>
              </a:pathLst>
            </a:custGeom>
            <a:solidFill>
              <a:srgbClr val="84C1F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7850238" y="4502048"/>
            <a:ext cx="4580934" cy="2540946"/>
            <a:chOff x="0" y="0"/>
            <a:chExt cx="6107913" cy="33879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07938" cy="3387852"/>
            </a:xfrm>
            <a:custGeom>
              <a:avLst/>
              <a:gdLst/>
              <a:ahLst/>
              <a:cxnLst/>
              <a:rect r="r" b="b" t="t" l="l"/>
              <a:pathLst>
                <a:path h="3387852" w="6107938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5767705" y="0"/>
                  </a:lnTo>
                  <a:cubicBezTo>
                    <a:pt x="5955665" y="0"/>
                    <a:pt x="6107938" y="152273"/>
                    <a:pt x="6107938" y="340233"/>
                  </a:cubicBezTo>
                  <a:lnTo>
                    <a:pt x="6107938" y="3047619"/>
                  </a:lnTo>
                  <a:cubicBezTo>
                    <a:pt x="6107938" y="3235579"/>
                    <a:pt x="5955665" y="3387852"/>
                    <a:pt x="5767705" y="3387852"/>
                  </a:cubicBezTo>
                  <a:lnTo>
                    <a:pt x="340233" y="3387852"/>
                  </a:lnTo>
                  <a:cubicBezTo>
                    <a:pt x="152273" y="3387979"/>
                    <a:pt x="0" y="3235579"/>
                    <a:pt x="0" y="3047619"/>
                  </a:cubicBezTo>
                  <a:close/>
                </a:path>
              </a:pathLst>
            </a:custGeom>
            <a:solidFill>
              <a:srgbClr val="CEE6F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8133759" y="4747470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Proven Approach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33759" y="5293814"/>
            <a:ext cx="4013892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Regime detection combined with ML filtering delivers superior results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714684" y="4502048"/>
            <a:ext cx="4581077" cy="2540946"/>
            <a:chOff x="0" y="0"/>
            <a:chExt cx="6108103" cy="33879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08065" cy="3387852"/>
            </a:xfrm>
            <a:custGeom>
              <a:avLst/>
              <a:gdLst/>
              <a:ahLst/>
              <a:cxnLst/>
              <a:rect r="r" b="b" t="t" l="l"/>
              <a:pathLst>
                <a:path h="3387852" w="6108065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5767832" y="0"/>
                  </a:lnTo>
                  <a:cubicBezTo>
                    <a:pt x="5955792" y="0"/>
                    <a:pt x="6108065" y="152273"/>
                    <a:pt x="6108065" y="340233"/>
                  </a:cubicBezTo>
                  <a:lnTo>
                    <a:pt x="6108065" y="3047619"/>
                  </a:lnTo>
                  <a:cubicBezTo>
                    <a:pt x="6108065" y="3235579"/>
                    <a:pt x="5955792" y="3387852"/>
                    <a:pt x="5767832" y="3387852"/>
                  </a:cubicBezTo>
                  <a:lnTo>
                    <a:pt x="340233" y="3387852"/>
                  </a:lnTo>
                  <a:cubicBezTo>
                    <a:pt x="152273" y="3387979"/>
                    <a:pt x="0" y="3235579"/>
                    <a:pt x="0" y="3047619"/>
                  </a:cubicBezTo>
                  <a:close/>
                </a:path>
              </a:pathLst>
            </a:custGeom>
            <a:solidFill>
              <a:srgbClr val="CEE6F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2998206" y="4747470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Modular Design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98206" y="5293814"/>
            <a:ext cx="4014045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System architecture supports easy modification and enhancement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850238" y="7326516"/>
            <a:ext cx="9445523" cy="1633690"/>
            <a:chOff x="0" y="0"/>
            <a:chExt cx="12594031" cy="21782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94082" cy="2178177"/>
            </a:xfrm>
            <a:custGeom>
              <a:avLst/>
              <a:gdLst/>
              <a:ahLst/>
              <a:cxnLst/>
              <a:rect r="r" b="b" t="t" l="l"/>
              <a:pathLst>
                <a:path h="2178177" w="12594082">
                  <a:moveTo>
                    <a:pt x="0" y="340233"/>
                  </a:moveTo>
                  <a:cubicBezTo>
                    <a:pt x="0" y="152273"/>
                    <a:pt x="152273" y="0"/>
                    <a:pt x="340233" y="0"/>
                  </a:cubicBezTo>
                  <a:lnTo>
                    <a:pt x="12253849" y="0"/>
                  </a:lnTo>
                  <a:cubicBezTo>
                    <a:pt x="12441809" y="0"/>
                    <a:pt x="12594082" y="152273"/>
                    <a:pt x="12594082" y="340233"/>
                  </a:cubicBezTo>
                  <a:lnTo>
                    <a:pt x="12594082" y="1837944"/>
                  </a:lnTo>
                  <a:cubicBezTo>
                    <a:pt x="12594082" y="2025904"/>
                    <a:pt x="12441809" y="2178177"/>
                    <a:pt x="12253849" y="2178177"/>
                  </a:cubicBezTo>
                  <a:lnTo>
                    <a:pt x="340233" y="2178177"/>
                  </a:lnTo>
                  <a:cubicBezTo>
                    <a:pt x="152273" y="2178304"/>
                    <a:pt x="0" y="2025904"/>
                    <a:pt x="0" y="1837944"/>
                  </a:cubicBezTo>
                  <a:close/>
                </a:path>
              </a:pathLst>
            </a:custGeom>
            <a:solidFill>
              <a:srgbClr val="CEE6FD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8133759" y="7571927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1E3063"/>
                </a:solidFill>
                <a:latin typeface="Arimo Bold"/>
                <a:ea typeface="Arimo Bold"/>
                <a:cs typeface="Arimo Bold"/>
                <a:sym typeface="Arimo Bold"/>
              </a:rPr>
              <a:t>Research Ready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33759" y="8118272"/>
            <a:ext cx="8878491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1E3063"/>
                </a:solidFill>
                <a:latin typeface="Arimo"/>
                <a:ea typeface="Arimo"/>
                <a:cs typeface="Arimo"/>
                <a:sym typeface="Arimo"/>
              </a:rPr>
              <a:t>Foundation suitable for further academic and practical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DAG-jzP88Ak</dc:identifier>
  <dcterms:modified xsi:type="dcterms:W3CDTF">2011-08-01T06:04:30Z</dcterms:modified>
  <cp:revision>1</cp:revision>
  <dc:title>Priyanshu_Maheshwari_presentation</dc:title>
</cp:coreProperties>
</file>